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【Guo Jiaxin · 15 sec】</a:t>
            </a:r>
          </a:p>
          <a:p>
            <a:r>
              <a:t>Hello everyone. I'm Guo Jiaxin from Group __. Our project is called Board2TeX. In short, it turns a photo of a blackboard into a compilable LaTeX document. All four of us built this project together, and today each of us will present one continuous part of it. Let me first explain the problem and our goal.</a:t>
            </a:r>
          </a:p>
          <a:p>
            <a:r>
              <a:t>(Handover) After Slide 2, Hu Bingshan steps up.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【Guo Jiaxin · 45 sec】</a:t>
            </a:r>
          </a:p>
          <a:p>
            <a:r>
              <a:t>Let me start with why we are doing this.</a:t>
            </a:r>
          </a:p>
          <a:p>
            <a:r>
              <a:t>Taking photos of the board with a phone is easy, but when we review, we have to type every formula into LaTeX by hand — slow, and easy to get wrong. Existing tools like Mathpix charge per use, and they only recognize a screenshot of a single formula. They cannot handle a full board, and they do not support English text mixed with formulas.</a:t>
            </a:r>
          </a:p>
          <a:p>
            <a:r>
              <a:t>So we want to build a free tool that works on a whole board. Our target users are students who want to archive board notes, and teaching assistants and instructors who need to turn derivations into handouts.</a:t>
            </a:r>
          </a:p>
          <a:p>
            <a:r>
              <a:t>What sets our project apart is the complete end-to-end flow — from a full board all the way to a compilable document — with English text mixed with formulas, and an error notebook for archiving. Existing tools offer none of these.</a:t>
            </a:r>
          </a:p>
          <a:p>
            <a:r>
              <a:t>(Handover) Next, Hu Bingshan will walk you through the system design.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 Bingshan · 50 sec】</a:t>
            </a:r>
          </a:p>
          <a:p>
            <a:r>
              <a:t>Thank you, Jiaxin. Our pipeline has five stages.</a:t>
            </a:r>
          </a:p>
          <a:p>
            <a:r>
              <a:t>First, preprocessing: we resize the photo, then convert to grayscale, normalize the lighting, and binarize, so the writing stands out clearly from the background. Second, layout analysis: we split the board into lines, and judge whether each line is text or a formula. Third, recognition: text lines go to PaddleOCR, formula lines go to pix2tex. Fourth, composition: everything is assembled into a compilable LaTeX file in reading order. Fifth, the application: in a desktop program, the user proofreads, exports a PDF, and saves the result to an error notebook.</a:t>
            </a:r>
          </a:p>
          <a:p>
            <a:r>
              <a:t>Our stack is Python, OpenCV, PaddleOCR, pix2tex, PyQt5, and SQLite.</a:t>
            </a:r>
          </a:p>
          <a:p>
            <a:r>
              <a:t>(Continue) Now let me zoom into the key technical problems.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 Bingshan · 60 sec】</a:t>
            </a:r>
          </a:p>
          <a:p>
            <a:r>
              <a:t>First, illumination enhancement. Phone photos of a board are often half bright, half dark. We equalize the lighting with CLAHE, then binarize with Otsu's automatic threshold — both are ready-made OpenCV functions, and the combination is simple and stable.</a:t>
            </a:r>
          </a:p>
          <a:p>
            <a:r>
              <a:t>Second, line segmentation. We count foreground pixels per row and treat the blank rows as the boundaries between lines. It is simple and stable, and the first version handles single columns only.</a:t>
            </a:r>
          </a:p>
          <a:p>
            <a:r>
              <a:t>Third, telling text and formulas apart. They need different engines, so we first judge by geometric features, and let the user correct uncertain cases in the interface.</a:t>
            </a:r>
          </a:p>
          <a:p>
            <a:r>
              <a:t>Fourth, producing compilable LaTeX. Characters like percent, ampersand, and underscore break compilation if not escaped, so we escape them uniformly and verify by compiling with xelatex.</a:t>
            </a:r>
          </a:p>
          <a:p>
            <a:r>
              <a:t>To be safe on time, the first version skips perspective correction, double columns, in-line block splitting, glare removal, and live preview — we have left those for later, and shooting the board straight is enough for now. This is a deliberate scope cut.</a:t>
            </a:r>
          </a:p>
          <a:p>
            <a:r>
              <a:t>(Handover) Now Tao Puzhou will explain how we divide the work and stay on schedule.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【Tao Puzhou · 45 sec】</a:t>
            </a:r>
          </a:p>
          <a:p>
            <a:r>
              <a:t>Thanks, Bingshan. Our division of work is built on full participation by all four of us: the proposal, the design, and the schedule were all decided together. During development, each of us owns one core module and also pairs up to join another module for development and code review, so every one of us understands the whole pipeline.</a:t>
            </a:r>
          </a:p>
          <a:p>
            <a:r>
              <a:t>Specifically, Hu Bingshan owns the image entry, main integration, and the UI framework; Guo Jiaxin owns image enhancement and line segmentation; I own recognition integration and LaTeX composition; Li Ruochen owns the interface, export, and the error notebook. After the interfaces freeze in Week 6, each of us first runs a minimal example of our own module using the shared skeletons, test images, and verification commands. All code goes to GitHub, and the commit history is the record of each person's contribution.</a:t>
            </a:r>
          </a:p>
          <a:p>
            <a:r>
              <a:t>(Continue) Next, the schedule.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【Tao Puzhou · 30 sec】</a:t>
            </a:r>
          </a:p>
          <a:p>
            <a:r>
              <a:t>In terms of timing, we formed the team in Week 4, and this midterm report is in Week 5. Weeks 6 to 10 will finish the core modules, Weeks 11 to 15 the interface, integration, and evaluation, Week 16 the report, and Week 17 the final presentation.</a:t>
            </a:r>
          </a:p>
          <a:p>
            <a:r>
              <a:t>(Handover) Finally, Li Ruochen will present the expected outcomes.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 Ruochen · 30 sec】</a:t>
            </a:r>
          </a:p>
          <a:p>
            <a:r>
              <a:t>Thanks, Puzhou. We plan to deliver a Windows desktop program that runs the whole pipeline, from photo to PDF, and can save to the error notebook. On metrics, we are aiming for line-segmentation accuracy above 90%, and an end-to-end usability rate above 70%.</a:t>
            </a:r>
          </a:p>
          <a:p>
            <a:r>
              <a:t>Recognition uses open-source models, which we will state clearly in the report; the rest of the code is written by the four of us ourselves.</a:t>
            </a:r>
          </a:p>
          <a:p>
            <a:r>
              <a:t>That is our report. Thank you — from all four of us.</a:t>
            </a:r>
          </a:p>
          <a:p>
            <a:r>
              <a:t>&gt; [pause] Now we are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67528" y="1481328"/>
            <a:ext cx="1463040" cy="45720"/>
          </a:xfrm>
          <a:prstGeom prst="rect">
            <a:avLst/>
          </a:prstGeom>
          <a:solidFill>
            <a:srgbClr val="E8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783080"/>
            <a:ext cx="9445752" cy="1005840"/>
          </a:xfrm>
          <a:prstGeom prst="rect">
            <a:avLst/>
          </a:prstGeom>
          <a:noFill/>
        </p:spPr>
        <p:txBody>
          <a:bodyPr wrap="square" anchor="t">
            <a:spAutoFit/>
          </a:bodyPr>
          <a:lstStyle/>
          <a:p>
            <a:pPr algn="ctr"/>
            <a:r>
              <a:rPr sz="5400" b="1">
                <a:solidFill>
                  <a:srgbClr val="FFFFFF"/>
                </a:solidFill>
                <a:latin typeface="Calibri"/>
                <a:ea typeface="Calibri"/>
              </a:rPr>
              <a:t>Board2TeX</a:t>
            </a:r>
          </a:p>
        </p:txBody>
      </p:sp>
      <p:sp>
        <p:nvSpPr>
          <p:cNvPr id="5" name="TextBox 4"/>
          <p:cNvSpPr txBox="1"/>
          <p:nvPr/>
        </p:nvSpPr>
        <p:spPr>
          <a:xfrm>
            <a:off x="1371600" y="2788920"/>
            <a:ext cx="9445752" cy="640080"/>
          </a:xfrm>
          <a:prstGeom prst="rect">
            <a:avLst/>
          </a:prstGeom>
          <a:noFill/>
        </p:spPr>
        <p:txBody>
          <a:bodyPr wrap="square" anchor="t">
            <a:spAutoFit/>
          </a:bodyPr>
          <a:lstStyle/>
          <a:p>
            <a:pPr algn="ctr"/>
            <a:r>
              <a:rPr sz="2600" b="0">
                <a:solidFill>
                  <a:srgbClr val="FFFFFF"/>
                </a:solidFill>
                <a:latin typeface="Calibri"/>
                <a:ea typeface="Calibri"/>
              </a:rPr>
              <a:t>Board → LaTeX One-Click Archiving Tool</a:t>
            </a:r>
          </a:p>
        </p:txBody>
      </p:sp>
      <p:sp>
        <p:nvSpPr>
          <p:cNvPr id="6" name="TextBox 5"/>
          <p:cNvSpPr txBox="1"/>
          <p:nvPr/>
        </p:nvSpPr>
        <p:spPr>
          <a:xfrm>
            <a:off x="1371600" y="3611880"/>
            <a:ext cx="9445752" cy="411480"/>
          </a:xfrm>
          <a:prstGeom prst="rect">
            <a:avLst/>
          </a:prstGeom>
          <a:noFill/>
        </p:spPr>
        <p:txBody>
          <a:bodyPr wrap="square" anchor="t">
            <a:spAutoFit/>
          </a:bodyPr>
          <a:lstStyle/>
          <a:p>
            <a:pPr algn="ctr"/>
            <a:r>
              <a:rPr sz="1600" b="0">
                <a:solidFill>
                  <a:srgbClr val="8FA3C8"/>
                </a:solidFill>
                <a:latin typeface="Calibri"/>
                <a:ea typeface="Calibri"/>
              </a:rPr>
              <a:t>ICSP (Track A) Midterm Report · Fall 2026</a:t>
            </a:r>
          </a:p>
        </p:txBody>
      </p:sp>
      <p:sp>
        <p:nvSpPr>
          <p:cNvPr id="7" name="TextBox 6"/>
          <p:cNvSpPr txBox="1"/>
          <p:nvPr/>
        </p:nvSpPr>
        <p:spPr>
          <a:xfrm>
            <a:off x="1371600" y="4206240"/>
            <a:ext cx="9445752" cy="457200"/>
          </a:xfrm>
          <a:prstGeom prst="rect">
            <a:avLst/>
          </a:prstGeom>
          <a:noFill/>
        </p:spPr>
        <p:txBody>
          <a:bodyPr wrap="square" anchor="t">
            <a:spAutoFit/>
          </a:bodyPr>
          <a:lstStyle/>
          <a:p>
            <a:pPr algn="ctr"/>
            <a:r>
              <a:rPr sz="1600" b="0">
                <a:solidFill>
                  <a:srgbClr val="FFFFFF"/>
                </a:solidFill>
                <a:latin typeface="Calibri"/>
                <a:ea typeface="Calibri"/>
              </a:rPr>
              <a:t>Team: Hu Bingshan (Leader) · Guo Jiaxin · Tao Puzhou · Li Ruochen</a:t>
            </a:r>
          </a:p>
        </p:txBody>
      </p:sp>
      <p:sp>
        <p:nvSpPr>
          <p:cNvPr id="8" name="TextBox 7"/>
          <p:cNvSpPr txBox="1"/>
          <p:nvPr/>
        </p:nvSpPr>
        <p:spPr>
          <a:xfrm>
            <a:off x="1371600" y="4709160"/>
            <a:ext cx="9445752" cy="365760"/>
          </a:xfrm>
          <a:prstGeom prst="rect">
            <a:avLst/>
          </a:prstGeom>
          <a:noFill/>
        </p:spPr>
        <p:txBody>
          <a:bodyPr wrap="square" anchor="t">
            <a:spAutoFit/>
          </a:bodyPr>
          <a:lstStyle/>
          <a:p>
            <a:pPr algn="ctr"/>
            <a:r>
              <a:rPr sz="1300" b="0">
                <a:solidFill>
                  <a:srgbClr val="8FA3C8"/>
                </a:solidFill>
                <a:latin typeface="Calibri"/>
                <a:ea typeface="Calibri"/>
              </a:rPr>
              <a:t>github.com/hbs07/Board2TeX</a:t>
            </a:r>
          </a:p>
        </p:txBody>
      </p:sp>
      <p:sp>
        <p:nvSpPr>
          <p:cNvPr id="9" name="TextBox 8"/>
          <p:cNvSpPr txBox="1"/>
          <p:nvPr/>
        </p:nvSpPr>
        <p:spPr>
          <a:xfrm>
            <a:off x="1371600" y="6035040"/>
            <a:ext cx="9445752" cy="365760"/>
          </a:xfrm>
          <a:prstGeom prst="rect">
            <a:avLst/>
          </a:prstGeom>
          <a:noFill/>
        </p:spPr>
        <p:txBody>
          <a:bodyPr wrap="square" anchor="t">
            <a:spAutoFit/>
          </a:bodyPr>
          <a:lstStyle/>
          <a:p>
            <a:pPr algn="ctr"/>
            <a:r>
              <a:rPr sz="1300" b="0">
                <a:solidFill>
                  <a:srgbClr val="8FA3C8"/>
                </a:solidFill>
                <a:latin typeface="Calibri"/>
                <a:ea typeface="Calibri"/>
              </a:rPr>
              <a:t>Four-speaker relay · about 5 minutes · Speaker: Guo Jiaxin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8778240" cy="777240"/>
          </a:xfrm>
          <a:prstGeom prst="rect">
            <a:avLst/>
          </a:prstGeom>
          <a:noFill/>
        </p:spPr>
        <p:txBody>
          <a:bodyPr wrap="square" anchor="t">
            <a:spAutoFit/>
          </a:bodyPr>
          <a:lstStyle/>
          <a:p>
            <a:pPr algn="l"/>
            <a:r>
              <a:rPr sz="3000" b="1">
                <a:solidFill>
                  <a:srgbClr val="1F3864"/>
                </a:solidFill>
                <a:latin typeface="Calibri"/>
                <a:ea typeface="Calibri"/>
              </a:rPr>
              <a:t>Problem &amp; Goal</a:t>
            </a:r>
          </a:p>
        </p:txBody>
      </p:sp>
      <p:sp>
        <p:nvSpPr>
          <p:cNvPr id="3" name="Rectangle 2"/>
          <p:cNvSpPr/>
          <p:nvPr/>
        </p:nvSpPr>
        <p:spPr>
          <a:xfrm>
            <a:off x="548640" y="1024128"/>
            <a:ext cx="1463040" cy="45720"/>
          </a:xfrm>
          <a:prstGeom prst="rect">
            <a:avLst/>
          </a:prstGeom>
          <a:solidFill>
            <a:srgbClr val="E8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0" y="384048"/>
            <a:ext cx="2834640" cy="365760"/>
          </a:xfrm>
          <a:prstGeom prst="rect">
            <a:avLst/>
          </a:prstGeom>
          <a:noFill/>
        </p:spPr>
        <p:txBody>
          <a:bodyPr wrap="square" anchor="t">
            <a:spAutoFit/>
          </a:bodyPr>
          <a:lstStyle/>
          <a:p>
            <a:pPr algn="r"/>
            <a:r>
              <a:rPr sz="1200" b="0">
                <a:solidFill>
                  <a:srgbClr val="595959"/>
                </a:solidFill>
                <a:latin typeface="Calibri"/>
                <a:ea typeface="Calibri"/>
              </a:rPr>
              <a:t>Speaker · Guo Jiaxin</a:t>
            </a:r>
          </a:p>
        </p:txBody>
      </p:sp>
      <p:sp>
        <p:nvSpPr>
          <p:cNvPr id="5" name="TextBox 4"/>
          <p:cNvSpPr txBox="1"/>
          <p:nvPr/>
        </p:nvSpPr>
        <p:spPr>
          <a:xfrm>
            <a:off x="11430000" y="6419088"/>
            <a:ext cx="640080" cy="320040"/>
          </a:xfrm>
          <a:prstGeom prst="rect">
            <a:avLst/>
          </a:prstGeom>
          <a:noFill/>
        </p:spPr>
        <p:txBody>
          <a:bodyPr wrap="square" anchor="t">
            <a:spAutoFit/>
          </a:bodyPr>
          <a:lstStyle/>
          <a:p>
            <a:pPr algn="r"/>
            <a:r>
              <a:rPr sz="1100" b="0">
                <a:solidFill>
                  <a:srgbClr val="595959"/>
                </a:solidFill>
                <a:latin typeface="Calibri"/>
                <a:ea typeface="Calibri"/>
              </a:rPr>
              <a:t>2 / 7</a:t>
            </a:r>
          </a:p>
        </p:txBody>
      </p:sp>
      <p:sp>
        <p:nvSpPr>
          <p:cNvPr id="6" name="TextBox 5"/>
          <p:cNvSpPr txBox="1"/>
          <p:nvPr/>
        </p:nvSpPr>
        <p:spPr>
          <a:xfrm>
            <a:off x="548640" y="1325880"/>
            <a:ext cx="5486400" cy="365760"/>
          </a:xfrm>
          <a:prstGeom prst="rect">
            <a:avLst/>
          </a:prstGeom>
          <a:noFill/>
        </p:spPr>
        <p:txBody>
          <a:bodyPr wrap="square" anchor="t">
            <a:spAutoFit/>
          </a:bodyPr>
          <a:lstStyle/>
          <a:p>
            <a:pPr algn="l"/>
            <a:r>
              <a:rPr sz="1500" b="1">
                <a:solidFill>
                  <a:srgbClr val="595959"/>
                </a:solidFill>
                <a:latin typeface="Calibri"/>
                <a:ea typeface="Calibri"/>
              </a:rPr>
              <a:t>Pain points</a:t>
            </a:r>
          </a:p>
        </p:txBody>
      </p:sp>
      <p:sp>
        <p:nvSpPr>
          <p:cNvPr id="7" name="TextBox 6"/>
          <p:cNvSpPr txBox="1"/>
          <p:nvPr/>
        </p:nvSpPr>
        <p:spPr>
          <a:xfrm>
            <a:off x="548640" y="1737360"/>
            <a:ext cx="5577840" cy="2011680"/>
          </a:xfrm>
          <a:prstGeom prst="rect">
            <a:avLst/>
          </a:prstGeom>
          <a:noFill/>
        </p:spPr>
        <p:txBody>
          <a:bodyPr wrap="square">
            <a:spAutoFit/>
          </a:bodyPr>
          <a:lstStyle/>
          <a:p>
            <a:pPr>
              <a:spcAft>
                <a:spcPts val="600"/>
              </a:spcAft>
            </a:pPr>
            <a:r>
              <a:rPr sz="1700" b="0">
                <a:solidFill>
                  <a:srgbClr val="1F3864"/>
                </a:solidFill>
                <a:latin typeface="Calibri"/>
                <a:ea typeface="Calibri"/>
              </a:rPr>
              <a:t>• Snapping a photo is easy — retyping every formula into LaTeX is slow and error-prone</a:t>
            </a:r>
          </a:p>
          <a:p>
            <a:pPr>
              <a:spcAft>
                <a:spcPts val="600"/>
              </a:spcAft>
            </a:pPr>
            <a:r>
              <a:rPr sz="1700" b="0">
                <a:solidFill>
                  <a:srgbClr val="1F3864"/>
                </a:solidFill>
                <a:latin typeface="Calibri"/>
                <a:ea typeface="Calibri"/>
              </a:rPr>
              <a:t>• Mathpix charges per use and only recognizes single-formula screenshots</a:t>
            </a:r>
          </a:p>
          <a:p>
            <a:pPr>
              <a:spcAft>
                <a:spcPts val="600"/>
              </a:spcAft>
            </a:pPr>
            <a:r>
              <a:rPr sz="1700" b="0">
                <a:solidFill>
                  <a:srgbClr val="1F3864"/>
                </a:solidFill>
                <a:latin typeface="Calibri"/>
                <a:ea typeface="Calibri"/>
              </a:rPr>
              <a:t>• Full boards, and English mixed with formulas, are not supported by existing tools</a:t>
            </a:r>
          </a:p>
        </p:txBody>
      </p:sp>
      <p:sp>
        <p:nvSpPr>
          <p:cNvPr id="8" name="TextBox 7"/>
          <p:cNvSpPr txBox="1"/>
          <p:nvPr/>
        </p:nvSpPr>
        <p:spPr>
          <a:xfrm>
            <a:off x="548640" y="3749039"/>
            <a:ext cx="5486400" cy="365760"/>
          </a:xfrm>
          <a:prstGeom prst="rect">
            <a:avLst/>
          </a:prstGeom>
          <a:noFill/>
        </p:spPr>
        <p:txBody>
          <a:bodyPr wrap="square" anchor="t">
            <a:spAutoFit/>
          </a:bodyPr>
          <a:lstStyle/>
          <a:p>
            <a:pPr algn="l"/>
            <a:r>
              <a:rPr sz="1500" b="1">
                <a:solidFill>
                  <a:srgbClr val="595959"/>
                </a:solidFill>
                <a:latin typeface="Calibri"/>
                <a:ea typeface="Calibri"/>
              </a:rPr>
              <a:t>Our goal</a:t>
            </a:r>
          </a:p>
        </p:txBody>
      </p:sp>
      <p:sp>
        <p:nvSpPr>
          <p:cNvPr id="9" name="TextBox 8"/>
          <p:cNvSpPr txBox="1"/>
          <p:nvPr/>
        </p:nvSpPr>
        <p:spPr>
          <a:xfrm>
            <a:off x="548640" y="4160520"/>
            <a:ext cx="5577840" cy="2011680"/>
          </a:xfrm>
          <a:prstGeom prst="rect">
            <a:avLst/>
          </a:prstGeom>
          <a:noFill/>
        </p:spPr>
        <p:txBody>
          <a:bodyPr wrap="square">
            <a:spAutoFit/>
          </a:bodyPr>
          <a:lstStyle/>
          <a:p>
            <a:pPr>
              <a:spcAft>
                <a:spcPts val="600"/>
              </a:spcAft>
            </a:pPr>
            <a:r>
              <a:rPr sz="1700" b="0">
                <a:solidFill>
                  <a:srgbClr val="1F3864"/>
                </a:solidFill>
                <a:latin typeface="Calibri"/>
                <a:ea typeface="Calibri"/>
              </a:rPr>
              <a:t>• A free tool that works on a whole board</a:t>
            </a:r>
          </a:p>
          <a:p>
            <a:pPr>
              <a:spcAft>
                <a:spcPts val="600"/>
              </a:spcAft>
            </a:pPr>
            <a:r>
              <a:rPr sz="1700" b="0">
                <a:solidFill>
                  <a:srgbClr val="1F3864"/>
                </a:solidFill>
                <a:latin typeface="Calibri"/>
                <a:ea typeface="Calibri"/>
              </a:rPr>
              <a:t>• Users: students archiving board notes; TAs and instructors turning derivations into handouts</a:t>
            </a:r>
          </a:p>
        </p:txBody>
      </p:sp>
      <p:sp>
        <p:nvSpPr>
          <p:cNvPr id="10" name="Rectangle 9"/>
          <p:cNvSpPr/>
          <p:nvPr/>
        </p:nvSpPr>
        <p:spPr>
          <a:xfrm>
            <a:off x="6492240" y="1325880"/>
            <a:ext cx="5166360" cy="4480560"/>
          </a:xfrm>
          <a:prstGeom prst="rect">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a:lstStyle/>
          <a:p>
            <a:pPr algn="l"/>
            <a:r>
              <a:rPr sz="1800" b="1">
                <a:solidFill>
                  <a:srgbClr val="1F3864"/>
                </a:solidFill>
                <a:latin typeface="Calibri"/>
                <a:ea typeface="Calibri"/>
              </a:rPr>
              <a:t>What sets us apart</a:t>
            </a:r>
          </a:p>
          <a:p>
            <a:pPr algn="l"/>
            <a:r>
              <a:rPr sz="800" b="0">
                <a:solidFill>
                  <a:srgbClr val="1F3864"/>
                </a:solidFill>
                <a:latin typeface="Calibri"/>
                <a:ea typeface="Calibri"/>
              </a:rPr>
              <a:t/>
            </a:r>
          </a:p>
          <a:p>
            <a:pPr algn="l"/>
            <a:r>
              <a:rPr sz="1700" b="0">
                <a:solidFill>
                  <a:srgbClr val="1F3864"/>
                </a:solidFill>
                <a:latin typeface="Calibri"/>
                <a:ea typeface="Calibri"/>
              </a:rPr>
              <a:t>Full board → compilable document, end to end</a:t>
            </a:r>
          </a:p>
          <a:p>
            <a:pPr algn="l"/>
            <a:r>
              <a:rPr sz="1700" b="0">
                <a:solidFill>
                  <a:srgbClr val="1F3864"/>
                </a:solidFill>
                <a:latin typeface="Calibri"/>
                <a:ea typeface="Calibri"/>
              </a:rPr>
              <a:t>English text mixed with formulas</a:t>
            </a:r>
          </a:p>
          <a:p>
            <a:pPr algn="l"/>
            <a:r>
              <a:rPr sz="1700" b="0">
                <a:solidFill>
                  <a:srgbClr val="1F3864"/>
                </a:solidFill>
                <a:latin typeface="Calibri"/>
                <a:ea typeface="Calibri"/>
              </a:rPr>
              <a:t>Error notebook for archiving and review</a:t>
            </a:r>
          </a:p>
          <a:p>
            <a:pPr algn="l"/>
            <a:r>
              <a:rPr sz="800" b="0">
                <a:solidFill>
                  <a:srgbClr val="1F3864"/>
                </a:solidFill>
                <a:latin typeface="Calibri"/>
                <a:ea typeface="Calibri"/>
              </a:rPr>
              <a:t/>
            </a:r>
          </a:p>
          <a:p>
            <a:pPr algn="l"/>
            <a:r>
              <a:rPr sz="1400" b="1">
                <a:solidFill>
                  <a:srgbClr val="E88D2E"/>
                </a:solidFill>
                <a:latin typeface="Calibri"/>
                <a:ea typeface="Calibri"/>
              </a:rPr>
              <a:t>— none of this exists in current tools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8778240" cy="777240"/>
          </a:xfrm>
          <a:prstGeom prst="rect">
            <a:avLst/>
          </a:prstGeom>
          <a:noFill/>
        </p:spPr>
        <p:txBody>
          <a:bodyPr wrap="square" anchor="t">
            <a:spAutoFit/>
          </a:bodyPr>
          <a:lstStyle/>
          <a:p>
            <a:pPr algn="l"/>
            <a:r>
              <a:rPr sz="3000" b="1">
                <a:solidFill>
                  <a:srgbClr val="1F3864"/>
                </a:solidFill>
                <a:latin typeface="Calibri"/>
                <a:ea typeface="Calibri"/>
              </a:rPr>
              <a:t>System Design</a:t>
            </a:r>
          </a:p>
        </p:txBody>
      </p:sp>
      <p:sp>
        <p:nvSpPr>
          <p:cNvPr id="3" name="Rectangle 2"/>
          <p:cNvSpPr/>
          <p:nvPr/>
        </p:nvSpPr>
        <p:spPr>
          <a:xfrm>
            <a:off x="548640" y="1024128"/>
            <a:ext cx="1463040" cy="45720"/>
          </a:xfrm>
          <a:prstGeom prst="rect">
            <a:avLst/>
          </a:prstGeom>
          <a:solidFill>
            <a:srgbClr val="E8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0" y="384048"/>
            <a:ext cx="2834640" cy="365760"/>
          </a:xfrm>
          <a:prstGeom prst="rect">
            <a:avLst/>
          </a:prstGeom>
          <a:noFill/>
        </p:spPr>
        <p:txBody>
          <a:bodyPr wrap="square" anchor="t">
            <a:spAutoFit/>
          </a:bodyPr>
          <a:lstStyle/>
          <a:p>
            <a:pPr algn="r"/>
            <a:r>
              <a:rPr sz="1200" b="0">
                <a:solidFill>
                  <a:srgbClr val="595959"/>
                </a:solidFill>
                <a:latin typeface="Calibri"/>
                <a:ea typeface="Calibri"/>
              </a:rPr>
              <a:t>Speaker · Hu Bingshan</a:t>
            </a:r>
          </a:p>
        </p:txBody>
      </p:sp>
      <p:sp>
        <p:nvSpPr>
          <p:cNvPr id="5" name="TextBox 4"/>
          <p:cNvSpPr txBox="1"/>
          <p:nvPr/>
        </p:nvSpPr>
        <p:spPr>
          <a:xfrm>
            <a:off x="11430000" y="6419088"/>
            <a:ext cx="640080" cy="320040"/>
          </a:xfrm>
          <a:prstGeom prst="rect">
            <a:avLst/>
          </a:prstGeom>
          <a:noFill/>
        </p:spPr>
        <p:txBody>
          <a:bodyPr wrap="square" anchor="t">
            <a:spAutoFit/>
          </a:bodyPr>
          <a:lstStyle/>
          <a:p>
            <a:pPr algn="r"/>
            <a:r>
              <a:rPr sz="1100" b="0">
                <a:solidFill>
                  <a:srgbClr val="595959"/>
                </a:solidFill>
                <a:latin typeface="Calibri"/>
                <a:ea typeface="Calibri"/>
              </a:rPr>
              <a:t>3 / 7</a:t>
            </a:r>
          </a:p>
        </p:txBody>
      </p:sp>
      <p:sp>
        <p:nvSpPr>
          <p:cNvPr id="6" name="TextBox 5"/>
          <p:cNvSpPr txBox="1"/>
          <p:nvPr/>
        </p:nvSpPr>
        <p:spPr>
          <a:xfrm>
            <a:off x="548640" y="1298448"/>
            <a:ext cx="10972800" cy="365760"/>
          </a:xfrm>
          <a:prstGeom prst="rect">
            <a:avLst/>
          </a:prstGeom>
          <a:noFill/>
        </p:spPr>
        <p:txBody>
          <a:bodyPr wrap="square" anchor="t">
            <a:spAutoFit/>
          </a:bodyPr>
          <a:lstStyle/>
          <a:p>
            <a:pPr algn="l"/>
            <a:r>
              <a:rPr sz="1400" b="0">
                <a:solidFill>
                  <a:srgbClr val="595959"/>
                </a:solidFill>
                <a:latin typeface="Calibri"/>
                <a:ea typeface="Calibri"/>
              </a:rPr>
              <a:t>Input: one board photo (shot as straight as possible in v1)</a:t>
            </a:r>
          </a:p>
        </p:txBody>
      </p:sp>
      <p:sp>
        <p:nvSpPr>
          <p:cNvPr id="7" name="Rounded Rectangle 6"/>
          <p:cNvSpPr/>
          <p:nvPr/>
        </p:nvSpPr>
        <p:spPr>
          <a:xfrm>
            <a:off x="457200" y="1783080"/>
            <a:ext cx="2048256" cy="1600200"/>
          </a:xfrm>
          <a:prstGeom prst="roundRect">
            <a:avLst/>
          </a:prstGeom>
          <a:solidFill>
            <a:srgbClr val="EAF1FB"/>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864"/>
                </a:solidFill>
                <a:latin typeface="Calibri"/>
                <a:ea typeface="Calibri"/>
              </a:rPr>
              <a:t>① Preprocessing</a:t>
            </a:r>
          </a:p>
          <a:p>
            <a:pPr algn="ctr"/>
            <a:r>
              <a:rPr sz="1200" b="0">
                <a:solidFill>
                  <a:srgbClr val="1F3864"/>
                </a:solidFill>
                <a:latin typeface="Calibri"/>
                <a:ea typeface="Calibri"/>
              </a:rPr>
              <a:t>resize · grayscale</a:t>
            </a:r>
          </a:p>
          <a:p>
            <a:pPr algn="ctr"/>
            <a:r>
              <a:rPr sz="1200" b="0">
                <a:solidFill>
                  <a:srgbClr val="1F3864"/>
                </a:solidFill>
                <a:latin typeface="Calibri"/>
                <a:ea typeface="Calibri"/>
              </a:rPr>
              <a:t>CLAHE · Otsu · crop</a:t>
            </a:r>
          </a:p>
        </p:txBody>
      </p:sp>
      <p:sp>
        <p:nvSpPr>
          <p:cNvPr id="8" name="Right Arrow 7"/>
          <p:cNvSpPr/>
          <p:nvPr/>
        </p:nvSpPr>
        <p:spPr>
          <a:xfrm>
            <a:off x="2514600" y="2404872"/>
            <a:ext cx="237744" cy="347472"/>
          </a:xfrm>
          <a:prstGeom prst="rightArrow">
            <a:avLst/>
          </a:prstGeom>
          <a:solidFill>
            <a:srgbClr val="E8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761488" y="1783080"/>
            <a:ext cx="2048256" cy="1600200"/>
          </a:xfrm>
          <a:prstGeom prst="roundRect">
            <a:avLst/>
          </a:prstGeom>
          <a:solidFill>
            <a:srgbClr val="EAF1FB"/>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864"/>
                </a:solidFill>
                <a:latin typeface="Calibri"/>
                <a:ea typeface="Calibri"/>
              </a:rPr>
              <a:t>② Layout analysis</a:t>
            </a:r>
          </a:p>
          <a:p>
            <a:pPr algn="ctr"/>
            <a:r>
              <a:rPr sz="1200" b="0">
                <a:solidFill>
                  <a:srgbClr val="1F3864"/>
                </a:solidFill>
                <a:latin typeface="Calibri"/>
                <a:ea typeface="Calibri"/>
              </a:rPr>
              <a:t>projection line split</a:t>
            </a:r>
          </a:p>
          <a:p>
            <a:pPr algn="ctr"/>
            <a:r>
              <a:rPr sz="1200" b="0">
                <a:solidFill>
                  <a:srgbClr val="1F3864"/>
                </a:solidFill>
                <a:latin typeface="Calibri"/>
                <a:ea typeface="Calibri"/>
              </a:rPr>
              <a:t>text vs. formula</a:t>
            </a:r>
          </a:p>
        </p:txBody>
      </p:sp>
      <p:sp>
        <p:nvSpPr>
          <p:cNvPr id="10" name="Right Arrow 9"/>
          <p:cNvSpPr/>
          <p:nvPr/>
        </p:nvSpPr>
        <p:spPr>
          <a:xfrm>
            <a:off x="4818888" y="2404872"/>
            <a:ext cx="237744" cy="347472"/>
          </a:xfrm>
          <a:prstGeom prst="rightArrow">
            <a:avLst/>
          </a:prstGeom>
          <a:solidFill>
            <a:srgbClr val="E8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65776" y="1783080"/>
            <a:ext cx="2048256" cy="1600200"/>
          </a:xfrm>
          <a:prstGeom prst="roundRect">
            <a:avLst/>
          </a:prstGeom>
          <a:solidFill>
            <a:srgbClr val="EAF1FB"/>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864"/>
                </a:solidFill>
                <a:latin typeface="Calibri"/>
                <a:ea typeface="Calibri"/>
              </a:rPr>
              <a:t>③ Recognition</a:t>
            </a:r>
          </a:p>
          <a:p>
            <a:pPr algn="ctr"/>
            <a:r>
              <a:rPr sz="1200" b="0">
                <a:solidFill>
                  <a:srgbClr val="1F3864"/>
                </a:solidFill>
                <a:latin typeface="Calibri"/>
                <a:ea typeface="Calibri"/>
              </a:rPr>
              <a:t>text → PaddleOCR</a:t>
            </a:r>
          </a:p>
          <a:p>
            <a:pPr algn="ctr"/>
            <a:r>
              <a:rPr sz="1200" b="0">
                <a:solidFill>
                  <a:srgbClr val="1F3864"/>
                </a:solidFill>
                <a:latin typeface="Calibri"/>
                <a:ea typeface="Calibri"/>
              </a:rPr>
              <a:t>formula → pix2tex</a:t>
            </a:r>
          </a:p>
        </p:txBody>
      </p:sp>
      <p:sp>
        <p:nvSpPr>
          <p:cNvPr id="12" name="Right Arrow 11"/>
          <p:cNvSpPr/>
          <p:nvPr/>
        </p:nvSpPr>
        <p:spPr>
          <a:xfrm>
            <a:off x="7123176" y="2404872"/>
            <a:ext cx="237744" cy="347472"/>
          </a:xfrm>
          <a:prstGeom prst="rightArrow">
            <a:avLst/>
          </a:prstGeom>
          <a:solidFill>
            <a:srgbClr val="E8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70064" y="1783080"/>
            <a:ext cx="2048256" cy="1600200"/>
          </a:xfrm>
          <a:prstGeom prst="roundRect">
            <a:avLst/>
          </a:prstGeom>
          <a:solidFill>
            <a:srgbClr val="EAF1FB"/>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864"/>
                </a:solidFill>
                <a:latin typeface="Calibri"/>
                <a:ea typeface="Calibri"/>
              </a:rPr>
              <a:t>④ LaTeX composition</a:t>
            </a:r>
          </a:p>
          <a:p>
            <a:pPr algn="ctr"/>
            <a:r>
              <a:rPr sz="1200" b="0">
                <a:solidFill>
                  <a:srgbClr val="1F3864"/>
                </a:solidFill>
                <a:latin typeface="Calibri"/>
                <a:ea typeface="Calibri"/>
              </a:rPr>
              <a:t>character escaping</a:t>
            </a:r>
          </a:p>
          <a:p>
            <a:pPr algn="ctr"/>
            <a:r>
              <a:rPr sz="1200" b="0">
                <a:solidFill>
                  <a:srgbClr val="1F3864"/>
                </a:solidFill>
                <a:latin typeface="Calibri"/>
                <a:ea typeface="Calibri"/>
              </a:rPr>
              <a:t>compilable .tex</a:t>
            </a:r>
          </a:p>
        </p:txBody>
      </p:sp>
      <p:sp>
        <p:nvSpPr>
          <p:cNvPr id="14" name="Right Arrow 13"/>
          <p:cNvSpPr/>
          <p:nvPr/>
        </p:nvSpPr>
        <p:spPr>
          <a:xfrm>
            <a:off x="9427464" y="2404872"/>
            <a:ext cx="237744" cy="347472"/>
          </a:xfrm>
          <a:prstGeom prst="rightArrow">
            <a:avLst/>
          </a:prstGeom>
          <a:solidFill>
            <a:srgbClr val="E8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674352" y="1783080"/>
            <a:ext cx="2048256" cy="1600200"/>
          </a:xfrm>
          <a:prstGeom prst="roundRect">
            <a:avLst/>
          </a:prstGeom>
          <a:solidFill>
            <a:srgbClr val="EAF1FB"/>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864"/>
                </a:solidFill>
                <a:latin typeface="Calibri"/>
                <a:ea typeface="Calibri"/>
              </a:rPr>
              <a:t>⑤ Application</a:t>
            </a:r>
          </a:p>
          <a:p>
            <a:pPr algn="ctr"/>
            <a:r>
              <a:rPr sz="1200" b="0">
                <a:solidFill>
                  <a:srgbClr val="1F3864"/>
                </a:solidFill>
                <a:latin typeface="Calibri"/>
                <a:ea typeface="Calibri"/>
              </a:rPr>
              <a:t>PyQt5 proofreading</a:t>
            </a:r>
          </a:p>
          <a:p>
            <a:pPr algn="ctr"/>
            <a:r>
              <a:rPr sz="1200" b="0">
                <a:solidFill>
                  <a:srgbClr val="1F3864"/>
                </a:solidFill>
                <a:latin typeface="Calibri"/>
                <a:ea typeface="Calibri"/>
              </a:rPr>
              <a:t>PDF export · notebook</a:t>
            </a:r>
          </a:p>
        </p:txBody>
      </p:sp>
      <p:sp>
        <p:nvSpPr>
          <p:cNvPr id="16" name="TextBox 15"/>
          <p:cNvSpPr txBox="1"/>
          <p:nvPr/>
        </p:nvSpPr>
        <p:spPr>
          <a:xfrm>
            <a:off x="548640" y="3611880"/>
            <a:ext cx="10972800" cy="365760"/>
          </a:xfrm>
          <a:prstGeom prst="rect">
            <a:avLst/>
          </a:prstGeom>
          <a:noFill/>
        </p:spPr>
        <p:txBody>
          <a:bodyPr wrap="square" anchor="t">
            <a:spAutoFit/>
          </a:bodyPr>
          <a:lstStyle/>
          <a:p>
            <a:pPr algn="l"/>
            <a:r>
              <a:rPr sz="1400" b="0">
                <a:solidFill>
                  <a:srgbClr val="595959"/>
                </a:solidFill>
                <a:latin typeface="Calibri"/>
                <a:ea typeface="Calibri"/>
              </a:rPr>
              <a:t>Output: compilable .tex → PDF, saved to the error notebook</a:t>
            </a:r>
          </a:p>
        </p:txBody>
      </p:sp>
      <p:sp>
        <p:nvSpPr>
          <p:cNvPr id="17" name="Rectangle 16"/>
          <p:cNvSpPr/>
          <p:nvPr/>
        </p:nvSpPr>
        <p:spPr>
          <a:xfrm>
            <a:off x="548640" y="4297680"/>
            <a:ext cx="11091672" cy="1188720"/>
          </a:xfrm>
          <a:prstGeom prst="rect">
            <a:avLst/>
          </a:prstGeom>
          <a:solidFill>
            <a:srgbClr val="F2F6FC"/>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F3864"/>
                </a:solidFill>
                <a:latin typeface="Calibri"/>
                <a:ea typeface="Calibri"/>
              </a:rPr>
              <a:t>Stack: Python · OpenCV · PaddleOCR · pix2tex (LaTeX-OCR) · PyQt5 · SQLite</a:t>
            </a:r>
          </a:p>
          <a:p>
            <a:pPr algn="ctr"/>
            <a:r>
              <a:rPr sz="1400" b="0">
                <a:solidFill>
                  <a:srgbClr val="595959"/>
                </a:solidFill>
                <a:latin typeface="Calibri"/>
                <a:ea typeface="Calibri"/>
              </a:rPr>
              <a:t>Verified by check_env.py: 15 OK / 0 FAIL · CPU inference · models warmed up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8778240" cy="777240"/>
          </a:xfrm>
          <a:prstGeom prst="rect">
            <a:avLst/>
          </a:prstGeom>
          <a:noFill/>
        </p:spPr>
        <p:txBody>
          <a:bodyPr wrap="square" anchor="t">
            <a:spAutoFit/>
          </a:bodyPr>
          <a:lstStyle/>
          <a:p>
            <a:pPr algn="l"/>
            <a:r>
              <a:rPr sz="3000" b="1">
                <a:solidFill>
                  <a:srgbClr val="1F3864"/>
                </a:solidFill>
                <a:latin typeface="Calibri"/>
                <a:ea typeface="Calibri"/>
              </a:rPr>
              <a:t>Key Technical Problems</a:t>
            </a:r>
          </a:p>
        </p:txBody>
      </p:sp>
      <p:sp>
        <p:nvSpPr>
          <p:cNvPr id="3" name="Rectangle 2"/>
          <p:cNvSpPr/>
          <p:nvPr/>
        </p:nvSpPr>
        <p:spPr>
          <a:xfrm>
            <a:off x="548640" y="1024128"/>
            <a:ext cx="1463040" cy="45720"/>
          </a:xfrm>
          <a:prstGeom prst="rect">
            <a:avLst/>
          </a:prstGeom>
          <a:solidFill>
            <a:srgbClr val="E8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0" y="384048"/>
            <a:ext cx="2834640" cy="365760"/>
          </a:xfrm>
          <a:prstGeom prst="rect">
            <a:avLst/>
          </a:prstGeom>
          <a:noFill/>
        </p:spPr>
        <p:txBody>
          <a:bodyPr wrap="square" anchor="t">
            <a:spAutoFit/>
          </a:bodyPr>
          <a:lstStyle/>
          <a:p>
            <a:pPr algn="r"/>
            <a:r>
              <a:rPr sz="1200" b="0">
                <a:solidFill>
                  <a:srgbClr val="595959"/>
                </a:solidFill>
                <a:latin typeface="Calibri"/>
                <a:ea typeface="Calibri"/>
              </a:rPr>
              <a:t>Speaker · Hu Bingshan</a:t>
            </a:r>
          </a:p>
        </p:txBody>
      </p:sp>
      <p:sp>
        <p:nvSpPr>
          <p:cNvPr id="5" name="TextBox 4"/>
          <p:cNvSpPr txBox="1"/>
          <p:nvPr/>
        </p:nvSpPr>
        <p:spPr>
          <a:xfrm>
            <a:off x="11430000" y="6419088"/>
            <a:ext cx="640080" cy="320040"/>
          </a:xfrm>
          <a:prstGeom prst="rect">
            <a:avLst/>
          </a:prstGeom>
          <a:noFill/>
        </p:spPr>
        <p:txBody>
          <a:bodyPr wrap="square" anchor="t">
            <a:spAutoFit/>
          </a:bodyPr>
          <a:lstStyle/>
          <a:p>
            <a:pPr algn="r"/>
            <a:r>
              <a:rPr sz="1100" b="0">
                <a:solidFill>
                  <a:srgbClr val="595959"/>
                </a:solidFill>
                <a:latin typeface="Calibri"/>
                <a:ea typeface="Calibri"/>
              </a:rPr>
              <a:t>4 / 7</a:t>
            </a:r>
          </a:p>
        </p:txBody>
      </p:sp>
      <p:sp>
        <p:nvSpPr>
          <p:cNvPr id="6" name="Rectangle 5"/>
          <p:cNvSpPr/>
          <p:nvPr/>
        </p:nvSpPr>
        <p:spPr>
          <a:xfrm>
            <a:off x="548640" y="1371600"/>
            <a:ext cx="5440680" cy="1554480"/>
          </a:xfrm>
          <a:prstGeom prst="rect">
            <a:avLst/>
          </a:prstGeom>
          <a:solidFill>
            <a:srgbClr val="F2F6FC"/>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700" b="1">
                <a:solidFill>
                  <a:srgbClr val="1F3864"/>
                </a:solidFill>
                <a:latin typeface="Calibri"/>
                <a:ea typeface="Calibri"/>
              </a:rPr>
              <a:t>① Illumination enhancement</a:t>
            </a:r>
          </a:p>
          <a:p>
            <a:pPr algn="l"/>
            <a:r>
              <a:rPr sz="1400" b="0">
                <a:solidFill>
                  <a:srgbClr val="595959"/>
                </a:solidFill>
                <a:latin typeface="Calibri"/>
                <a:ea typeface="Calibri"/>
              </a:rPr>
              <a:t>CLAHE evens out lighting + Otsu auto threshold; ready-made and stable</a:t>
            </a:r>
          </a:p>
        </p:txBody>
      </p:sp>
      <p:sp>
        <p:nvSpPr>
          <p:cNvPr id="7" name="Rectangle 6"/>
          <p:cNvSpPr/>
          <p:nvPr/>
        </p:nvSpPr>
        <p:spPr>
          <a:xfrm>
            <a:off x="6199632" y="1371600"/>
            <a:ext cx="5440680" cy="1554480"/>
          </a:xfrm>
          <a:prstGeom prst="rect">
            <a:avLst/>
          </a:prstGeom>
          <a:solidFill>
            <a:srgbClr val="F2F6FC"/>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700" b="1">
                <a:solidFill>
                  <a:srgbClr val="1F3864"/>
                </a:solidFill>
                <a:latin typeface="Calibri"/>
                <a:ea typeface="Calibri"/>
              </a:rPr>
              <a:t>② Line segmentation</a:t>
            </a:r>
          </a:p>
          <a:p>
            <a:pPr algn="l"/>
            <a:r>
              <a:rPr sz="1400" b="0">
                <a:solidFill>
                  <a:srgbClr val="595959"/>
                </a:solidFill>
                <a:latin typeface="Calibri"/>
                <a:ea typeface="Calibri"/>
              </a:rPr>
              <a:t>count foreground pixels per row; blank rows are boundaries; single column in v1</a:t>
            </a:r>
          </a:p>
        </p:txBody>
      </p:sp>
      <p:sp>
        <p:nvSpPr>
          <p:cNvPr id="8" name="Rectangle 7"/>
          <p:cNvSpPr/>
          <p:nvPr/>
        </p:nvSpPr>
        <p:spPr>
          <a:xfrm>
            <a:off x="548640" y="3108960"/>
            <a:ext cx="5440680" cy="1554480"/>
          </a:xfrm>
          <a:prstGeom prst="rect">
            <a:avLst/>
          </a:prstGeom>
          <a:solidFill>
            <a:srgbClr val="F2F6FC"/>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700" b="1">
                <a:solidFill>
                  <a:srgbClr val="1F3864"/>
                </a:solidFill>
                <a:latin typeface="Calibri"/>
                <a:ea typeface="Calibri"/>
              </a:rPr>
              <a:t>③ Text vs. formula</a:t>
            </a:r>
          </a:p>
          <a:p>
            <a:pPr algn="l"/>
            <a:r>
              <a:rPr sz="1400" b="0">
                <a:solidFill>
                  <a:srgbClr val="595959"/>
                </a:solidFill>
                <a:latin typeface="Calibri"/>
                <a:ea typeface="Calibri"/>
              </a:rPr>
              <a:t>geometric features cast the first vote; uncertain lines are fixed in the UI</a:t>
            </a:r>
          </a:p>
        </p:txBody>
      </p:sp>
      <p:sp>
        <p:nvSpPr>
          <p:cNvPr id="9" name="Rectangle 8"/>
          <p:cNvSpPr/>
          <p:nvPr/>
        </p:nvSpPr>
        <p:spPr>
          <a:xfrm>
            <a:off x="6199632" y="3108960"/>
            <a:ext cx="5440680" cy="1554480"/>
          </a:xfrm>
          <a:prstGeom prst="rect">
            <a:avLst/>
          </a:prstGeom>
          <a:solidFill>
            <a:srgbClr val="F2F6FC"/>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28600"/>
          <a:lstStyle/>
          <a:p>
            <a:pPr algn="l"/>
            <a:r>
              <a:rPr sz="1700" b="1">
                <a:solidFill>
                  <a:srgbClr val="1F3864"/>
                </a:solidFill>
                <a:latin typeface="Calibri"/>
                <a:ea typeface="Calibri"/>
              </a:rPr>
              <a:t>④ Compilable LaTeX</a:t>
            </a:r>
          </a:p>
          <a:p>
            <a:pPr algn="l"/>
            <a:r>
              <a:rPr sz="1400" b="0">
                <a:solidFill>
                  <a:srgbClr val="595959"/>
                </a:solidFill>
                <a:latin typeface="Calibri"/>
                <a:ea typeface="Calibri"/>
              </a:rPr>
              <a:t>escape &amp; % _ # uniformly; verify by compiling with xelatex</a:t>
            </a:r>
          </a:p>
        </p:txBody>
      </p:sp>
      <p:sp>
        <p:nvSpPr>
          <p:cNvPr id="10" name="Rectangle 9"/>
          <p:cNvSpPr/>
          <p:nvPr/>
        </p:nvSpPr>
        <p:spPr>
          <a:xfrm>
            <a:off x="548640" y="4983480"/>
            <a:ext cx="11091672" cy="868680"/>
          </a:xfrm>
          <a:prstGeom prst="rect">
            <a:avLst/>
          </a:prstGeom>
          <a:solidFill>
            <a:srgbClr val="FFF3DE"/>
          </a:solidFill>
          <a:ln w="12700">
            <a:solidFill>
              <a:srgbClr val="E88D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F3864"/>
                </a:solidFill>
                <a:latin typeface="Calibri"/>
                <a:ea typeface="Calibri"/>
              </a:rPr>
              <a:t>Deliberate scope cut: perspective correction · double columns · in-line splitting · glare removal · live preview → later; shooting straight is enough for v1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8778240" cy="777240"/>
          </a:xfrm>
          <a:prstGeom prst="rect">
            <a:avLst/>
          </a:prstGeom>
          <a:noFill/>
        </p:spPr>
        <p:txBody>
          <a:bodyPr wrap="square" anchor="t">
            <a:spAutoFit/>
          </a:bodyPr>
          <a:lstStyle/>
          <a:p>
            <a:pPr algn="l"/>
            <a:r>
              <a:rPr sz="3000" b="1">
                <a:solidFill>
                  <a:srgbClr val="1F3864"/>
                </a:solidFill>
                <a:latin typeface="Calibri"/>
                <a:ea typeface="Calibri"/>
              </a:rPr>
              <a:t>Team Division</a:t>
            </a:r>
          </a:p>
        </p:txBody>
      </p:sp>
      <p:sp>
        <p:nvSpPr>
          <p:cNvPr id="3" name="Rectangle 2"/>
          <p:cNvSpPr/>
          <p:nvPr/>
        </p:nvSpPr>
        <p:spPr>
          <a:xfrm>
            <a:off x="548640" y="1024128"/>
            <a:ext cx="1463040" cy="45720"/>
          </a:xfrm>
          <a:prstGeom prst="rect">
            <a:avLst/>
          </a:prstGeom>
          <a:solidFill>
            <a:srgbClr val="E8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0" y="384048"/>
            <a:ext cx="2834640" cy="365760"/>
          </a:xfrm>
          <a:prstGeom prst="rect">
            <a:avLst/>
          </a:prstGeom>
          <a:noFill/>
        </p:spPr>
        <p:txBody>
          <a:bodyPr wrap="square" anchor="t">
            <a:spAutoFit/>
          </a:bodyPr>
          <a:lstStyle/>
          <a:p>
            <a:pPr algn="r"/>
            <a:r>
              <a:rPr sz="1200" b="0">
                <a:solidFill>
                  <a:srgbClr val="595959"/>
                </a:solidFill>
                <a:latin typeface="Calibri"/>
                <a:ea typeface="Calibri"/>
              </a:rPr>
              <a:t>Speaker · Tao Puzhou</a:t>
            </a:r>
          </a:p>
        </p:txBody>
      </p:sp>
      <p:sp>
        <p:nvSpPr>
          <p:cNvPr id="5" name="TextBox 4"/>
          <p:cNvSpPr txBox="1"/>
          <p:nvPr/>
        </p:nvSpPr>
        <p:spPr>
          <a:xfrm>
            <a:off x="11430000" y="6419088"/>
            <a:ext cx="640080" cy="320040"/>
          </a:xfrm>
          <a:prstGeom prst="rect">
            <a:avLst/>
          </a:prstGeom>
          <a:noFill/>
        </p:spPr>
        <p:txBody>
          <a:bodyPr wrap="square" anchor="t">
            <a:spAutoFit/>
          </a:bodyPr>
          <a:lstStyle/>
          <a:p>
            <a:pPr algn="r"/>
            <a:r>
              <a:rPr sz="1100" b="0">
                <a:solidFill>
                  <a:srgbClr val="595959"/>
                </a:solidFill>
                <a:latin typeface="Calibri"/>
                <a:ea typeface="Calibri"/>
              </a:rPr>
              <a:t>5 / 7</a:t>
            </a:r>
          </a:p>
        </p:txBody>
      </p:sp>
      <p:sp>
        <p:nvSpPr>
          <p:cNvPr id="6" name="TextBox 5"/>
          <p:cNvSpPr txBox="1"/>
          <p:nvPr/>
        </p:nvSpPr>
        <p:spPr>
          <a:xfrm>
            <a:off x="548640" y="1298448"/>
            <a:ext cx="10972800" cy="411480"/>
          </a:xfrm>
          <a:prstGeom prst="rect">
            <a:avLst/>
          </a:prstGeom>
          <a:noFill/>
        </p:spPr>
        <p:txBody>
          <a:bodyPr wrap="square" anchor="t">
            <a:spAutoFit/>
          </a:bodyPr>
          <a:lstStyle/>
          <a:p>
            <a:pPr algn="l"/>
            <a:r>
              <a:rPr sz="1700" b="1">
                <a:solidFill>
                  <a:srgbClr val="E88D2E"/>
                </a:solidFill>
                <a:latin typeface="Calibri"/>
                <a:ea typeface="Calibri"/>
              </a:rPr>
              <a:t>Full participation · Module ownership · Cross-coverage</a:t>
            </a:r>
          </a:p>
        </p:txBody>
      </p:sp>
      <p:graphicFrame>
        <p:nvGraphicFramePr>
          <p:cNvPr id="7" name="Table 6"/>
          <p:cNvGraphicFramePr>
            <a:graphicFrameLocks noGrp="1"/>
          </p:cNvGraphicFramePr>
          <p:nvPr/>
        </p:nvGraphicFramePr>
        <p:xfrm>
          <a:off x="548640" y="1828800"/>
          <a:ext cx="11091672" cy="2724912"/>
        </p:xfrm>
        <a:graphic>
          <a:graphicData uri="http://schemas.openxmlformats.org/drawingml/2006/table">
            <a:tbl>
              <a:tblPr firstRow="1" bandRow="1">
                <a:tableStyleId>{5C22544A-7EE6-4342-B048-85BDC9FD1C3A}</a:tableStyleId>
              </a:tblPr>
              <a:tblGrid>
                <a:gridCol w="2103120"/>
                <a:gridCol w="5148072"/>
                <a:gridCol w="3840480"/>
              </a:tblGrid>
              <a:tr h="457200">
                <a:tc>
                  <a:txBody>
                    <a:bodyPr wrap="square"/>
                    <a:lstStyle/>
                    <a:p>
                      <a:r>
                        <a:rPr sz="1500" b="1">
                          <a:solidFill>
                            <a:srgbClr val="FFFFFF"/>
                          </a:solidFill>
                          <a:latin typeface="Calibri"/>
                          <a:ea typeface="Calibri"/>
                        </a:rPr>
                        <a:t>Member</a:t>
                      </a:r>
                    </a:p>
                  </a:txBody>
                  <a:tcPr marL="109728" marR="73152" anchor="ctr">
                    <a:solidFill>
                      <a:srgbClr val="1F3864"/>
                    </a:solidFill>
                  </a:tcPr>
                </a:tc>
                <a:tc>
                  <a:txBody>
                    <a:bodyPr wrap="square"/>
                    <a:lstStyle/>
                    <a:p>
                      <a:r>
                        <a:rPr sz="1500" b="1">
                          <a:solidFill>
                            <a:srgbClr val="FFFFFF"/>
                          </a:solidFill>
                          <a:latin typeface="Calibri"/>
                          <a:ea typeface="Calibri"/>
                        </a:rPr>
                        <a:t>Module ownership</a:t>
                      </a:r>
                    </a:p>
                  </a:txBody>
                  <a:tcPr marL="109728" marR="73152" anchor="ctr">
                    <a:solidFill>
                      <a:srgbClr val="1F3864"/>
                    </a:solidFill>
                  </a:tcPr>
                </a:tc>
                <a:tc>
                  <a:txBody>
                    <a:bodyPr wrap="square"/>
                    <a:lstStyle/>
                    <a:p>
                      <a:r>
                        <a:rPr sz="1500" b="1">
                          <a:solidFill>
                            <a:srgbClr val="FFFFFF"/>
                          </a:solidFill>
                          <a:latin typeface="Calibri"/>
                          <a:ea typeface="Calibri"/>
                        </a:rPr>
                        <a:t>Key deliverables</a:t>
                      </a:r>
                    </a:p>
                  </a:txBody>
                  <a:tcPr marL="109728" marR="73152" anchor="ctr">
                    <a:solidFill>
                      <a:srgbClr val="1F3864"/>
                    </a:solidFill>
                  </a:tcPr>
                </a:tc>
              </a:tr>
              <a:tr h="566928">
                <a:tc>
                  <a:txBody>
                    <a:bodyPr wrap="square"/>
                    <a:lstStyle/>
                    <a:p>
                      <a:r>
                        <a:rPr sz="1400" b="1">
                          <a:solidFill>
                            <a:srgbClr val="1F3864"/>
                          </a:solidFill>
                          <a:latin typeface="Calibri"/>
                          <a:ea typeface="Calibri"/>
                        </a:rPr>
                        <a:t>Hu Bingshan (Leader)</a:t>
                      </a:r>
                    </a:p>
                  </a:txBody>
                  <a:tcPr marL="109728" marR="73152" anchor="ctr">
                    <a:solidFill>
                      <a:srgbClr val="FFFFFF"/>
                    </a:solidFill>
                  </a:tcPr>
                </a:tc>
                <a:tc>
                  <a:txBody>
                    <a:bodyPr wrap="square"/>
                    <a:lstStyle/>
                    <a:p>
                      <a:r>
                        <a:rPr sz="1400" b="0">
                          <a:solidFill>
                            <a:srgbClr val="1F3864"/>
                          </a:solidFill>
                          <a:latin typeface="Calibri"/>
                          <a:ea typeface="Calibri"/>
                        </a:rPr>
                        <a:t>Image entry · integration · UI framework · PDF compilation</a:t>
                      </a:r>
                    </a:p>
                  </a:txBody>
                  <a:tcPr marL="109728" marR="73152" anchor="ctr">
                    <a:solidFill>
                      <a:srgbClr val="FFFFFF"/>
                    </a:solidFill>
                  </a:tcPr>
                </a:tc>
                <a:tc>
                  <a:txBody>
                    <a:bodyPr wrap="square"/>
                    <a:lstStyle/>
                    <a:p>
                      <a:r>
                        <a:rPr sz="1400" b="0">
                          <a:solidFill>
                            <a:srgbClr val="1F3864"/>
                          </a:solidFill>
                          <a:latin typeface="Calibri"/>
                          <a:ea typeface="Calibri"/>
                        </a:rPr>
                        <a:t>Runnable pipeline + integration</a:t>
                      </a:r>
                    </a:p>
                  </a:txBody>
                  <a:tcPr marL="109728" marR="73152" anchor="ctr">
                    <a:solidFill>
                      <a:srgbClr val="FFFFFF"/>
                    </a:solidFill>
                  </a:tcPr>
                </a:tc>
              </a:tr>
              <a:tr h="566928">
                <a:tc>
                  <a:txBody>
                    <a:bodyPr wrap="square"/>
                    <a:lstStyle/>
                    <a:p>
                      <a:r>
                        <a:rPr sz="1400" b="1">
                          <a:solidFill>
                            <a:srgbClr val="1F3864"/>
                          </a:solidFill>
                          <a:latin typeface="Calibri"/>
                          <a:ea typeface="Calibri"/>
                        </a:rPr>
                        <a:t>Guo Jiaxin</a:t>
                      </a:r>
                    </a:p>
                  </a:txBody>
                  <a:tcPr marL="109728" marR="73152" anchor="ctr">
                    <a:solidFill>
                      <a:srgbClr val="F2F6FC"/>
                    </a:solidFill>
                  </a:tcPr>
                </a:tc>
                <a:tc>
                  <a:txBody>
                    <a:bodyPr wrap="square"/>
                    <a:lstStyle/>
                    <a:p>
                      <a:r>
                        <a:rPr sz="1400" b="0">
                          <a:solidFill>
                            <a:srgbClr val="1F3864"/>
                          </a:solidFill>
                          <a:latin typeface="Calibri"/>
                          <a:ea typeface="Calibri"/>
                        </a:rPr>
                        <a:t>Image enhancement · line segmentation · classification</a:t>
                      </a:r>
                    </a:p>
                  </a:txBody>
                  <a:tcPr marL="109728" marR="73152" anchor="ctr">
                    <a:solidFill>
                      <a:srgbClr val="F2F6FC"/>
                    </a:solidFill>
                  </a:tcPr>
                </a:tc>
                <a:tc>
                  <a:txBody>
                    <a:bodyPr wrap="square"/>
                    <a:lstStyle/>
                    <a:p>
                      <a:r>
                        <a:rPr sz="1400" b="0">
                          <a:solidFill>
                            <a:srgbClr val="1F3864"/>
                          </a:solidFill>
                          <a:latin typeface="Calibri"/>
                          <a:ea typeface="Calibri"/>
                        </a:rPr>
                        <a:t>enhance.py + layout/ + annotated images</a:t>
                      </a:r>
                    </a:p>
                  </a:txBody>
                  <a:tcPr marL="109728" marR="73152" anchor="ctr">
                    <a:solidFill>
                      <a:srgbClr val="F2F6FC"/>
                    </a:solidFill>
                  </a:tcPr>
                </a:tc>
              </a:tr>
              <a:tr h="566928">
                <a:tc>
                  <a:txBody>
                    <a:bodyPr wrap="square"/>
                    <a:lstStyle/>
                    <a:p>
                      <a:r>
                        <a:rPr sz="1400" b="1">
                          <a:solidFill>
                            <a:srgbClr val="1F3864"/>
                          </a:solidFill>
                          <a:latin typeface="Calibri"/>
                          <a:ea typeface="Calibri"/>
                        </a:rPr>
                        <a:t>Tao Puzhou</a:t>
                      </a:r>
                    </a:p>
                  </a:txBody>
                  <a:tcPr marL="109728" marR="73152" anchor="ctr">
                    <a:solidFill>
                      <a:srgbClr val="FFFFFF"/>
                    </a:solidFill>
                  </a:tcPr>
                </a:tc>
                <a:tc>
                  <a:txBody>
                    <a:bodyPr wrap="square"/>
                    <a:lstStyle/>
                    <a:p>
                      <a:r>
                        <a:rPr sz="1400" b="0">
                          <a:solidFill>
                            <a:srgbClr val="1F3864"/>
                          </a:solidFill>
                          <a:latin typeface="Calibri"/>
                          <a:ea typeface="Calibri"/>
                        </a:rPr>
                        <a:t>Recognition wrappers · LaTeX escaping &amp; composition</a:t>
                      </a:r>
                    </a:p>
                  </a:txBody>
                  <a:tcPr marL="109728" marR="73152" anchor="ctr">
                    <a:solidFill>
                      <a:srgbClr val="FFFFFF"/>
                    </a:solidFill>
                  </a:tcPr>
                </a:tc>
                <a:tc>
                  <a:txBody>
                    <a:bodyPr wrap="square"/>
                    <a:lstStyle/>
                    <a:p>
                      <a:r>
                        <a:rPr sz="1400" b="0">
                          <a:solidFill>
                            <a:srgbClr val="1F3864"/>
                          </a:solidFill>
                          <a:latin typeface="Calibri"/>
                          <a:ea typeface="Calibri"/>
                        </a:rPr>
                        <a:t>Recognition module + compilable .tex</a:t>
                      </a:r>
                    </a:p>
                  </a:txBody>
                  <a:tcPr marL="109728" marR="73152" anchor="ctr">
                    <a:solidFill>
                      <a:srgbClr val="FFFFFF"/>
                    </a:solidFill>
                  </a:tcPr>
                </a:tc>
              </a:tr>
              <a:tr h="566928">
                <a:tc>
                  <a:txBody>
                    <a:bodyPr wrap="square"/>
                    <a:lstStyle/>
                    <a:p>
                      <a:r>
                        <a:rPr sz="1400" b="1">
                          <a:solidFill>
                            <a:srgbClr val="1F3864"/>
                          </a:solidFill>
                          <a:latin typeface="Calibri"/>
                          <a:ea typeface="Calibri"/>
                        </a:rPr>
                        <a:t>Li Ruochen</a:t>
                      </a:r>
                    </a:p>
                  </a:txBody>
                  <a:tcPr marL="109728" marR="73152" anchor="ctr">
                    <a:solidFill>
                      <a:srgbClr val="F2F6FC"/>
                    </a:solidFill>
                  </a:tcPr>
                </a:tc>
                <a:tc>
                  <a:txBody>
                    <a:bodyPr wrap="square"/>
                    <a:lstStyle/>
                    <a:p>
                      <a:r>
                        <a:rPr sz="1400" b="0">
                          <a:solidFill>
                            <a:srgbClr val="1F3864"/>
                          </a:solidFill>
                          <a:latin typeface="Calibri"/>
                          <a:ea typeface="Calibri"/>
                        </a:rPr>
                        <a:t>UI · export · error notebook · evaluation</a:t>
                      </a:r>
                    </a:p>
                  </a:txBody>
                  <a:tcPr marL="109728" marR="73152" anchor="ctr">
                    <a:solidFill>
                      <a:srgbClr val="F2F6FC"/>
                    </a:solidFill>
                  </a:tcPr>
                </a:tc>
                <a:tc>
                  <a:txBody>
                    <a:bodyPr wrap="square"/>
                    <a:lstStyle/>
                    <a:p>
                      <a:r>
                        <a:rPr sz="1400" b="0">
                          <a:solidFill>
                            <a:srgbClr val="1F3864"/>
                          </a:solidFill>
                          <a:latin typeface="Calibri"/>
                          <a:ea typeface="Calibri"/>
                        </a:rPr>
                        <a:t>Desktop app + notebook + evaluation report</a:t>
                      </a:r>
                    </a:p>
                  </a:txBody>
                  <a:tcPr marL="109728" marR="73152" anchor="ctr">
                    <a:solidFill>
                      <a:srgbClr val="F2F6FC"/>
                    </a:solidFill>
                  </a:tcPr>
                </a:tc>
              </a:tr>
            </a:tbl>
          </a:graphicData>
        </a:graphic>
      </p:graphicFrame>
      <p:sp>
        <p:nvSpPr>
          <p:cNvPr id="8" name="TextBox 7"/>
          <p:cNvSpPr txBox="1"/>
          <p:nvPr/>
        </p:nvSpPr>
        <p:spPr>
          <a:xfrm>
            <a:off x="548640" y="4800600"/>
            <a:ext cx="11064240" cy="1645920"/>
          </a:xfrm>
          <a:prstGeom prst="rect">
            <a:avLst/>
          </a:prstGeom>
          <a:noFill/>
        </p:spPr>
        <p:txBody>
          <a:bodyPr wrap="square">
            <a:spAutoFit/>
          </a:bodyPr>
          <a:lstStyle/>
          <a:p>
            <a:pPr>
              <a:spcAft>
                <a:spcPts val="400"/>
              </a:spcAft>
            </a:pPr>
            <a:r>
              <a:rPr sz="1500" b="0">
                <a:solidFill>
                  <a:srgbClr val="1F3864"/>
                </a:solidFill>
                <a:latin typeface="Calibri"/>
                <a:ea typeface="Calibri"/>
              </a:rPr>
              <a:t>• Pair up and cross-join another module for development and code review</a:t>
            </a:r>
          </a:p>
          <a:p>
            <a:pPr>
              <a:spcAft>
                <a:spcPts val="400"/>
              </a:spcAft>
            </a:pPr>
            <a:r>
              <a:rPr sz="1500" b="0">
                <a:solidFill>
                  <a:srgbClr val="1F3864"/>
                </a:solidFill>
                <a:latin typeface="Calibri"/>
                <a:ea typeface="Calibri"/>
              </a:rPr>
              <a:t>• After interfaces freeze in Week 6, everyone first runs a minimal example on the shared skeletons</a:t>
            </a:r>
          </a:p>
          <a:p>
            <a:pPr>
              <a:spcAft>
                <a:spcPts val="400"/>
              </a:spcAft>
            </a:pPr>
            <a:r>
              <a:rPr sz="1500" b="0">
                <a:solidFill>
                  <a:srgbClr val="1F3864"/>
                </a:solidFill>
                <a:latin typeface="Calibri"/>
                <a:ea typeface="Calibri"/>
              </a:rPr>
              <a:t>• All code goes to GitHub — commit history is each person's record of contribution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8778240" cy="777240"/>
          </a:xfrm>
          <a:prstGeom prst="rect">
            <a:avLst/>
          </a:prstGeom>
          <a:noFill/>
        </p:spPr>
        <p:txBody>
          <a:bodyPr wrap="square" anchor="t">
            <a:spAutoFit/>
          </a:bodyPr>
          <a:lstStyle/>
          <a:p>
            <a:pPr algn="l"/>
            <a:r>
              <a:rPr sz="3000" b="1">
                <a:solidFill>
                  <a:srgbClr val="1F3864"/>
                </a:solidFill>
                <a:latin typeface="Calibri"/>
                <a:ea typeface="Calibri"/>
              </a:rPr>
              <a:t>Schedule</a:t>
            </a:r>
          </a:p>
        </p:txBody>
      </p:sp>
      <p:sp>
        <p:nvSpPr>
          <p:cNvPr id="3" name="Rectangle 2"/>
          <p:cNvSpPr/>
          <p:nvPr/>
        </p:nvSpPr>
        <p:spPr>
          <a:xfrm>
            <a:off x="548640" y="1024128"/>
            <a:ext cx="1463040" cy="45720"/>
          </a:xfrm>
          <a:prstGeom prst="rect">
            <a:avLst/>
          </a:prstGeom>
          <a:solidFill>
            <a:srgbClr val="E8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0" y="384048"/>
            <a:ext cx="2834640" cy="365760"/>
          </a:xfrm>
          <a:prstGeom prst="rect">
            <a:avLst/>
          </a:prstGeom>
          <a:noFill/>
        </p:spPr>
        <p:txBody>
          <a:bodyPr wrap="square" anchor="t">
            <a:spAutoFit/>
          </a:bodyPr>
          <a:lstStyle/>
          <a:p>
            <a:pPr algn="r"/>
            <a:r>
              <a:rPr sz="1200" b="0">
                <a:solidFill>
                  <a:srgbClr val="595959"/>
                </a:solidFill>
                <a:latin typeface="Calibri"/>
                <a:ea typeface="Calibri"/>
              </a:rPr>
              <a:t>Speaker · Tao Puzhou</a:t>
            </a:r>
          </a:p>
        </p:txBody>
      </p:sp>
      <p:sp>
        <p:nvSpPr>
          <p:cNvPr id="5" name="TextBox 4"/>
          <p:cNvSpPr txBox="1"/>
          <p:nvPr/>
        </p:nvSpPr>
        <p:spPr>
          <a:xfrm>
            <a:off x="11430000" y="6419088"/>
            <a:ext cx="640080" cy="320040"/>
          </a:xfrm>
          <a:prstGeom prst="rect">
            <a:avLst/>
          </a:prstGeom>
          <a:noFill/>
        </p:spPr>
        <p:txBody>
          <a:bodyPr wrap="square" anchor="t">
            <a:spAutoFit/>
          </a:bodyPr>
          <a:lstStyle/>
          <a:p>
            <a:pPr algn="r"/>
            <a:r>
              <a:rPr sz="1100" b="0">
                <a:solidFill>
                  <a:srgbClr val="595959"/>
                </a:solidFill>
                <a:latin typeface="Calibri"/>
                <a:ea typeface="Calibri"/>
              </a:rPr>
              <a:t>6 / 7</a:t>
            </a:r>
          </a:p>
        </p:txBody>
      </p:sp>
      <p:sp>
        <p:nvSpPr>
          <p:cNvPr id="6" name="Chevron 5"/>
          <p:cNvSpPr/>
          <p:nvPr/>
        </p:nvSpPr>
        <p:spPr>
          <a:xfrm>
            <a:off x="457200" y="1737360"/>
            <a:ext cx="1810512" cy="914400"/>
          </a:xfrm>
          <a:prstGeom prst="chevron">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ea typeface="Calibri"/>
              </a:rPr>
              <a:t>W4</a:t>
            </a:r>
          </a:p>
          <a:p>
            <a:pPr algn="ctr"/>
            <a:r>
              <a:rPr sz="1100" b="0">
                <a:solidFill>
                  <a:srgbClr val="FFFFFF"/>
                </a:solidFill>
                <a:latin typeface="Calibri"/>
                <a:ea typeface="Calibri"/>
              </a:rPr>
              <a:t>Team &amp; env</a:t>
            </a:r>
          </a:p>
        </p:txBody>
      </p:sp>
      <p:sp>
        <p:nvSpPr>
          <p:cNvPr id="7" name="Chevron 6"/>
          <p:cNvSpPr/>
          <p:nvPr/>
        </p:nvSpPr>
        <p:spPr>
          <a:xfrm>
            <a:off x="2066543" y="1737360"/>
            <a:ext cx="1810512" cy="914400"/>
          </a:xfrm>
          <a:prstGeom prst="chevron">
            <a:avLst/>
          </a:prstGeom>
          <a:solidFill>
            <a:srgbClr val="E88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ea typeface="Calibri"/>
              </a:rPr>
              <a:t>W5</a:t>
            </a:r>
          </a:p>
          <a:p>
            <a:pPr algn="ctr"/>
            <a:r>
              <a:rPr sz="1100" b="0">
                <a:solidFill>
                  <a:srgbClr val="FFFFFF"/>
                </a:solidFill>
                <a:latin typeface="Calibri"/>
                <a:ea typeface="Calibri"/>
              </a:rPr>
              <a:t>Midterm · now</a:t>
            </a:r>
          </a:p>
        </p:txBody>
      </p:sp>
      <p:sp>
        <p:nvSpPr>
          <p:cNvPr id="8" name="Chevron 7"/>
          <p:cNvSpPr/>
          <p:nvPr/>
        </p:nvSpPr>
        <p:spPr>
          <a:xfrm>
            <a:off x="3675887" y="1737360"/>
            <a:ext cx="1810512" cy="914400"/>
          </a:xfrm>
          <a:prstGeom prst="chevron">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F3864"/>
                </a:solidFill>
                <a:latin typeface="Calibri"/>
                <a:ea typeface="Calibri"/>
              </a:rPr>
              <a:t>W6</a:t>
            </a:r>
          </a:p>
          <a:p>
            <a:pPr algn="ctr"/>
            <a:r>
              <a:rPr sz="1100" b="0">
                <a:solidFill>
                  <a:srgbClr val="1F3864"/>
                </a:solidFill>
                <a:latin typeface="Calibri"/>
                <a:ea typeface="Calibri"/>
              </a:rPr>
              <a:t>Freeze + skeletons</a:t>
            </a:r>
          </a:p>
        </p:txBody>
      </p:sp>
      <p:sp>
        <p:nvSpPr>
          <p:cNvPr id="9" name="Chevron 8"/>
          <p:cNvSpPr/>
          <p:nvPr/>
        </p:nvSpPr>
        <p:spPr>
          <a:xfrm>
            <a:off x="5285232" y="1737360"/>
            <a:ext cx="1810512" cy="914400"/>
          </a:xfrm>
          <a:prstGeom prst="chevron">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F3864"/>
                </a:solidFill>
                <a:latin typeface="Calibri"/>
                <a:ea typeface="Calibri"/>
              </a:rPr>
              <a:t>W7–10</a:t>
            </a:r>
          </a:p>
          <a:p>
            <a:pPr algn="ctr"/>
            <a:r>
              <a:rPr sz="1100" b="0">
                <a:solidFill>
                  <a:srgbClr val="1F3864"/>
                </a:solidFill>
                <a:latin typeface="Calibri"/>
                <a:ea typeface="Calibri"/>
              </a:rPr>
              <a:t>Core modules</a:t>
            </a:r>
          </a:p>
        </p:txBody>
      </p:sp>
      <p:sp>
        <p:nvSpPr>
          <p:cNvPr id="10" name="Chevron 9"/>
          <p:cNvSpPr/>
          <p:nvPr/>
        </p:nvSpPr>
        <p:spPr>
          <a:xfrm>
            <a:off x="6894576" y="1737360"/>
            <a:ext cx="1810512" cy="914400"/>
          </a:xfrm>
          <a:prstGeom prst="chevron">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F3864"/>
                </a:solidFill>
                <a:latin typeface="Calibri"/>
                <a:ea typeface="Calibri"/>
              </a:rPr>
              <a:t>W11–15</a:t>
            </a:r>
          </a:p>
          <a:p>
            <a:pPr algn="ctr"/>
            <a:r>
              <a:rPr sz="1100" b="0">
                <a:solidFill>
                  <a:srgbClr val="1F3864"/>
                </a:solidFill>
                <a:latin typeface="Calibri"/>
                <a:ea typeface="Calibri"/>
              </a:rPr>
              <a:t>UI &amp; integration</a:t>
            </a:r>
          </a:p>
        </p:txBody>
      </p:sp>
      <p:sp>
        <p:nvSpPr>
          <p:cNvPr id="11" name="Chevron 10"/>
          <p:cNvSpPr/>
          <p:nvPr/>
        </p:nvSpPr>
        <p:spPr>
          <a:xfrm>
            <a:off x="8503920" y="1737360"/>
            <a:ext cx="1810512" cy="914400"/>
          </a:xfrm>
          <a:prstGeom prst="chevron">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F3864"/>
                </a:solidFill>
                <a:latin typeface="Calibri"/>
                <a:ea typeface="Calibri"/>
              </a:rPr>
              <a:t>W16</a:t>
            </a:r>
          </a:p>
          <a:p>
            <a:pPr algn="ctr"/>
            <a:r>
              <a:rPr sz="1100" b="0">
                <a:solidFill>
                  <a:srgbClr val="1F3864"/>
                </a:solidFill>
                <a:latin typeface="Calibri"/>
                <a:ea typeface="Calibri"/>
              </a:rPr>
              <a:t>Report</a:t>
            </a:r>
          </a:p>
        </p:txBody>
      </p:sp>
      <p:sp>
        <p:nvSpPr>
          <p:cNvPr id="12" name="Chevron 11"/>
          <p:cNvSpPr/>
          <p:nvPr/>
        </p:nvSpPr>
        <p:spPr>
          <a:xfrm>
            <a:off x="10113264" y="1737360"/>
            <a:ext cx="1810512" cy="914400"/>
          </a:xfrm>
          <a:prstGeom prst="chevron">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F3864"/>
                </a:solidFill>
                <a:latin typeface="Calibri"/>
                <a:ea typeface="Calibri"/>
              </a:rPr>
              <a:t>W17</a:t>
            </a:r>
          </a:p>
          <a:p>
            <a:pPr algn="ctr"/>
            <a:r>
              <a:rPr sz="1100" b="0">
                <a:solidFill>
                  <a:srgbClr val="1F3864"/>
                </a:solidFill>
                <a:latin typeface="Calibri"/>
                <a:ea typeface="Calibri"/>
              </a:rPr>
              <a:t>Finals</a:t>
            </a:r>
          </a:p>
        </p:txBody>
      </p:sp>
      <p:sp>
        <p:nvSpPr>
          <p:cNvPr id="13" name="Rectangle 12"/>
          <p:cNvSpPr/>
          <p:nvPr/>
        </p:nvSpPr>
        <p:spPr>
          <a:xfrm>
            <a:off x="548640" y="3063240"/>
            <a:ext cx="11091672" cy="1051560"/>
          </a:xfrm>
          <a:prstGeom prst="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2E7D32"/>
                </a:solidFill>
                <a:latin typeface="Calibri"/>
                <a:ea typeface="Calibri"/>
              </a:rPr>
              <a:t>Week 6 is for freezing interfaces and running minimal examples — no rush to integrate, buffer built in</a:t>
            </a:r>
          </a:p>
        </p:txBody>
      </p:sp>
      <p:sp>
        <p:nvSpPr>
          <p:cNvPr id="14" name="TextBox 13"/>
          <p:cNvSpPr txBox="1"/>
          <p:nvPr/>
        </p:nvSpPr>
        <p:spPr>
          <a:xfrm>
            <a:off x="548640" y="4434840"/>
            <a:ext cx="11064240" cy="1920240"/>
          </a:xfrm>
          <a:prstGeom prst="rect">
            <a:avLst/>
          </a:prstGeom>
          <a:noFill/>
        </p:spPr>
        <p:txBody>
          <a:bodyPr wrap="square">
            <a:spAutoFit/>
          </a:bodyPr>
          <a:lstStyle/>
          <a:p>
            <a:pPr>
              <a:spcAft>
                <a:spcPts val="500"/>
              </a:spcAft>
            </a:pPr>
            <a:r>
              <a:rPr sz="1500" b="0">
                <a:solidFill>
                  <a:srgbClr val="1F3864"/>
                </a:solidFill>
                <a:latin typeface="Calibri"/>
                <a:ea typeface="Calibri"/>
              </a:rPr>
              <a:t>• Week 7–8: enhancement / segmentation / classification + recognition wrappers; Week 9–10: composition, integrated with layout</a:t>
            </a:r>
          </a:p>
          <a:p>
            <a:pPr>
              <a:spcAft>
                <a:spcPts val="500"/>
              </a:spcAft>
            </a:pPr>
            <a:r>
              <a:rPr sz="1500" b="0">
                <a:solidFill>
                  <a:srgbClr val="1F3864"/>
                </a:solidFill>
                <a:latin typeface="Calibri"/>
                <a:ea typeface="Calibri"/>
              </a:rPr>
              <a:t>• Week 11–12: export, error notebook and UI controls; Week 13–14: assemble the full pipeline</a:t>
            </a:r>
          </a:p>
          <a:p>
            <a:pPr>
              <a:spcAft>
                <a:spcPts val="500"/>
              </a:spcAft>
            </a:pPr>
            <a:r>
              <a:rPr sz="1500" b="0">
                <a:solidFill>
                  <a:srgbClr val="1F3864"/>
                </a:solidFill>
                <a:latin typeface="Calibri"/>
                <a:ea typeface="Calibri"/>
              </a:rPr>
              <a:t>• Week 15: evaluation, packaging and demo; Week 16: report; Week 17: finals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8778240" cy="777240"/>
          </a:xfrm>
          <a:prstGeom prst="rect">
            <a:avLst/>
          </a:prstGeom>
          <a:noFill/>
        </p:spPr>
        <p:txBody>
          <a:bodyPr wrap="square" anchor="t">
            <a:spAutoFit/>
          </a:bodyPr>
          <a:lstStyle/>
          <a:p>
            <a:pPr algn="l"/>
            <a:r>
              <a:rPr sz="3000" b="1">
                <a:solidFill>
                  <a:srgbClr val="1F3864"/>
                </a:solidFill>
                <a:latin typeface="Calibri"/>
                <a:ea typeface="Calibri"/>
              </a:rPr>
              <a:t>Expected Outcomes</a:t>
            </a:r>
          </a:p>
        </p:txBody>
      </p:sp>
      <p:sp>
        <p:nvSpPr>
          <p:cNvPr id="3" name="Rectangle 2"/>
          <p:cNvSpPr/>
          <p:nvPr/>
        </p:nvSpPr>
        <p:spPr>
          <a:xfrm>
            <a:off x="548640" y="1024128"/>
            <a:ext cx="1463040" cy="45720"/>
          </a:xfrm>
          <a:prstGeom prst="rect">
            <a:avLst/>
          </a:prstGeom>
          <a:solidFill>
            <a:srgbClr val="E8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0" y="384048"/>
            <a:ext cx="2834640" cy="365760"/>
          </a:xfrm>
          <a:prstGeom prst="rect">
            <a:avLst/>
          </a:prstGeom>
          <a:noFill/>
        </p:spPr>
        <p:txBody>
          <a:bodyPr wrap="square" anchor="t">
            <a:spAutoFit/>
          </a:bodyPr>
          <a:lstStyle/>
          <a:p>
            <a:pPr algn="r"/>
            <a:r>
              <a:rPr sz="1200" b="0">
                <a:solidFill>
                  <a:srgbClr val="595959"/>
                </a:solidFill>
                <a:latin typeface="Calibri"/>
                <a:ea typeface="Calibri"/>
              </a:rPr>
              <a:t>Speaker · Li Ruochen</a:t>
            </a:r>
          </a:p>
        </p:txBody>
      </p:sp>
      <p:sp>
        <p:nvSpPr>
          <p:cNvPr id="5" name="TextBox 4"/>
          <p:cNvSpPr txBox="1"/>
          <p:nvPr/>
        </p:nvSpPr>
        <p:spPr>
          <a:xfrm>
            <a:off x="11430000" y="6419088"/>
            <a:ext cx="640080" cy="320040"/>
          </a:xfrm>
          <a:prstGeom prst="rect">
            <a:avLst/>
          </a:prstGeom>
          <a:noFill/>
        </p:spPr>
        <p:txBody>
          <a:bodyPr wrap="square" anchor="t">
            <a:spAutoFit/>
          </a:bodyPr>
          <a:lstStyle/>
          <a:p>
            <a:pPr algn="r"/>
            <a:r>
              <a:rPr sz="1100" b="0">
                <a:solidFill>
                  <a:srgbClr val="595959"/>
                </a:solidFill>
                <a:latin typeface="Calibri"/>
                <a:ea typeface="Calibri"/>
              </a:rPr>
              <a:t>7 / 7</a:t>
            </a:r>
          </a:p>
        </p:txBody>
      </p:sp>
      <p:sp>
        <p:nvSpPr>
          <p:cNvPr id="6" name="TextBox 5"/>
          <p:cNvSpPr txBox="1"/>
          <p:nvPr/>
        </p:nvSpPr>
        <p:spPr>
          <a:xfrm>
            <a:off x="548640" y="1371600"/>
            <a:ext cx="11064240" cy="1280160"/>
          </a:xfrm>
          <a:prstGeom prst="rect">
            <a:avLst/>
          </a:prstGeom>
          <a:noFill/>
        </p:spPr>
        <p:txBody>
          <a:bodyPr wrap="square">
            <a:spAutoFit/>
          </a:bodyPr>
          <a:lstStyle/>
          <a:p>
            <a:pPr>
              <a:spcAft>
                <a:spcPts val="600"/>
              </a:spcAft>
            </a:pPr>
            <a:r>
              <a:rPr sz="1700" b="0">
                <a:solidFill>
                  <a:srgbClr val="1F3864"/>
                </a:solidFill>
                <a:latin typeface="Calibri"/>
                <a:ea typeface="Calibri"/>
              </a:rPr>
              <a:t>• Deliverable: a Windows desktop app — the full pipeline from photo to PDF, with the error notebook</a:t>
            </a:r>
          </a:p>
          <a:p>
            <a:pPr>
              <a:spcAft>
                <a:spcPts val="600"/>
              </a:spcAft>
            </a:pPr>
            <a:r>
              <a:rPr sz="1700" b="0">
                <a:solidFill>
                  <a:srgbClr val="1F3864"/>
                </a:solidFill>
                <a:latin typeface="Calibri"/>
                <a:ea typeface="Calibri"/>
              </a:rPr>
              <a:t>• Deliverables: GitHub repo · check_env one-click verification · demo video · project report</a:t>
            </a:r>
          </a:p>
        </p:txBody>
      </p:sp>
      <p:sp>
        <p:nvSpPr>
          <p:cNvPr id="7" name="Rectangle 6"/>
          <p:cNvSpPr/>
          <p:nvPr/>
        </p:nvSpPr>
        <p:spPr>
          <a:xfrm>
            <a:off x="548640" y="2880360"/>
            <a:ext cx="3566160" cy="1234440"/>
          </a:xfrm>
          <a:prstGeom prst="rect">
            <a:avLst/>
          </a:prstGeom>
          <a:solidFill>
            <a:srgbClr val="EAF1FB"/>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1F3864"/>
                </a:solidFill>
                <a:latin typeface="Calibri"/>
                <a:ea typeface="Calibri"/>
              </a:rPr>
              <a:t>Line-segmentation accuracy ≥ 90%</a:t>
            </a:r>
          </a:p>
          <a:p>
            <a:pPr algn="ctr"/>
            <a:r>
              <a:rPr sz="1200" b="0">
                <a:solidFill>
                  <a:srgbClr val="595959"/>
                </a:solidFill>
                <a:latin typeface="Calibri"/>
                <a:ea typeface="Calibri"/>
              </a:rPr>
              <a:t>20–30 neat board photos, manually checked</a:t>
            </a:r>
          </a:p>
        </p:txBody>
      </p:sp>
      <p:sp>
        <p:nvSpPr>
          <p:cNvPr id="8" name="Rectangle 7"/>
          <p:cNvSpPr/>
          <p:nvPr/>
        </p:nvSpPr>
        <p:spPr>
          <a:xfrm>
            <a:off x="4315968" y="2880360"/>
            <a:ext cx="3566160" cy="1234440"/>
          </a:xfrm>
          <a:prstGeom prst="rect">
            <a:avLst/>
          </a:prstGeom>
          <a:solidFill>
            <a:srgbClr val="EAF1FB"/>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1F3864"/>
                </a:solidFill>
                <a:latin typeface="Calibri"/>
                <a:ea typeface="Calibri"/>
              </a:rPr>
              <a:t>End-to-end usability ≥ 70%</a:t>
            </a:r>
          </a:p>
          <a:p>
            <a:pPr algn="ctr"/>
            <a:r>
              <a:rPr sz="1200" b="0">
                <a:solidFill>
                  <a:srgbClr val="595959"/>
                </a:solidFill>
                <a:latin typeface="Calibri"/>
                <a:ea typeface="Calibri"/>
              </a:rPr>
              <a:t>usable with only minor manual edits</a:t>
            </a:r>
          </a:p>
        </p:txBody>
      </p:sp>
      <p:sp>
        <p:nvSpPr>
          <p:cNvPr id="9" name="Rectangle 8"/>
          <p:cNvSpPr/>
          <p:nvPr/>
        </p:nvSpPr>
        <p:spPr>
          <a:xfrm>
            <a:off x="8083296" y="2880360"/>
            <a:ext cx="3566160" cy="1234440"/>
          </a:xfrm>
          <a:prstGeom prst="rect">
            <a:avLst/>
          </a:prstGeom>
          <a:solidFill>
            <a:srgbClr val="EAF1FB"/>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1F3864"/>
                </a:solidFill>
                <a:latin typeface="Calibri"/>
                <a:ea typeface="Calibri"/>
              </a:rPr>
              <a:t>Full-pipeline demo</a:t>
            </a:r>
          </a:p>
          <a:p>
            <a:pPr algn="ctr"/>
            <a:r>
              <a:rPr sz="1200" b="0">
                <a:solidFill>
                  <a:srgbClr val="595959"/>
                </a:solidFill>
                <a:latin typeface="Calibri"/>
                <a:ea typeface="Calibri"/>
              </a:rPr>
              <a:t>photo → recognition → proofread → PDF → notebook</a:t>
            </a:r>
          </a:p>
        </p:txBody>
      </p:sp>
      <p:sp>
        <p:nvSpPr>
          <p:cNvPr id="10" name="TextBox 9"/>
          <p:cNvSpPr txBox="1"/>
          <p:nvPr/>
        </p:nvSpPr>
        <p:spPr>
          <a:xfrm>
            <a:off x="548640" y="4434840"/>
            <a:ext cx="11064240" cy="457200"/>
          </a:xfrm>
          <a:prstGeom prst="rect">
            <a:avLst/>
          </a:prstGeom>
          <a:noFill/>
        </p:spPr>
        <p:txBody>
          <a:bodyPr wrap="square" anchor="t">
            <a:spAutoFit/>
          </a:bodyPr>
          <a:lstStyle/>
          <a:p>
            <a:pPr algn="l"/>
            <a:r>
              <a:rPr sz="1300" b="0">
                <a:solidFill>
                  <a:srgbClr val="595959"/>
                </a:solidFill>
                <a:latin typeface="Calibri"/>
                <a:ea typeface="Calibri"/>
              </a:rPr>
              <a:t>AI statement: recognition uses open-source models — PaddleOCR / pix2tex (stated in the report); the rest of the code is written by the four of us.</a:t>
            </a:r>
          </a:p>
        </p:txBody>
      </p:sp>
      <p:sp>
        <p:nvSpPr>
          <p:cNvPr id="11" name="TextBox 10"/>
          <p:cNvSpPr txBox="1"/>
          <p:nvPr/>
        </p:nvSpPr>
        <p:spPr>
          <a:xfrm>
            <a:off x="548640" y="5212080"/>
            <a:ext cx="11064240" cy="640080"/>
          </a:xfrm>
          <a:prstGeom prst="rect">
            <a:avLst/>
          </a:prstGeom>
          <a:noFill/>
        </p:spPr>
        <p:txBody>
          <a:bodyPr wrap="square" anchor="t">
            <a:spAutoFit/>
          </a:bodyPr>
          <a:lstStyle/>
          <a:p>
            <a:pPr algn="l"/>
            <a:r>
              <a:rPr sz="2400" b="1">
                <a:solidFill>
                  <a:srgbClr val="1F3864"/>
                </a:solidFill>
                <a:latin typeface="Calibri"/>
                <a:ea typeface="Calibri"/>
              </a:rPr>
              <a:t>That is our report. Thank you!</a:t>
            </a:r>
          </a:p>
        </p:txBody>
      </p:sp>
      <p:sp>
        <p:nvSpPr>
          <p:cNvPr id="12" name="TextBox 11"/>
          <p:cNvSpPr txBox="1"/>
          <p:nvPr/>
        </p:nvSpPr>
        <p:spPr>
          <a:xfrm>
            <a:off x="548640" y="5943600"/>
            <a:ext cx="11064240" cy="365760"/>
          </a:xfrm>
          <a:prstGeom prst="rect">
            <a:avLst/>
          </a:prstGeom>
          <a:noFill/>
        </p:spPr>
        <p:txBody>
          <a:bodyPr wrap="square" anchor="t">
            <a:spAutoFit/>
          </a:bodyPr>
          <a:lstStyle/>
          <a:p>
            <a:pPr algn="l"/>
            <a:r>
              <a:rPr sz="1400" b="0">
                <a:solidFill>
                  <a:srgbClr val="595959"/>
                </a:solidFill>
                <a:latin typeface="Calibri"/>
                <a:ea typeface="Calibri"/>
              </a:rPr>
              <a:t>[pause] Now we are happy to take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Board2TeX Midterm Report</dc:title>
  <dc:subject/>
  <dc:creator>Board2TeX Team</dc:creator>
  <cp:keywords/>
  <dc:description>ICSP Track A midterm report, 7 slides, four-speaker relay; speech text in the notes pane.</dc:description>
  <cp:lastModifiedBy>Steve Canny</cp:lastModifiedBy>
  <cp:revision>1</cp:revision>
  <dcterms:created xsi:type="dcterms:W3CDTF">2013-01-27T09:14:16Z</dcterms:created>
  <dcterms:modified xsi:type="dcterms:W3CDTF">2013-01-27T09:15:58Z</dcterms:modified>
  <cp:category/>
</cp:coreProperties>
</file>