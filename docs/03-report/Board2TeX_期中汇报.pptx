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【郭佳欣 · 15 秒】</a:t>
            </a:r>
          </a:p>
          <a:p>
            <a:r>
              <a:t>各位老师、同学好,我是第 __ 组的郭佳欣。我们组的项目叫 Board2TeX,要做的是把一张板书照片,自动变成能编译的 LaTeX 文档。这个项目由我们四个人一起完成,今天也由我们四个人接力汇报。我先说说我们为什么做这个。</a:t>
            </a:r>
          </a:p>
          <a:p>
            <a:r>
              <a:t>(交接)讲完 Slide 2 后,请胡秉善同学上台。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【郭佳欣 · 45 秒】</a:t>
            </a:r>
          </a:p>
          <a:p>
            <a:r>
              <a:t>我们平时用手机拍板书很快,但复习的时候,要把公式一条条敲进 LaTeX,又慢又容易错。现在市面上的工具,比如 Mathpix,是按次收费的,而且只能识别单条公式的截图,碰到整版板书、英文和公式混排就不行了。</a:t>
            </a:r>
          </a:p>
          <a:p>
            <a:r>
              <a:t>所以我们想做一个免费、能处理整版板书的工具。主要给两类人用:想归档板书复习的同学,还有需要把课堂推导整理成讲义的助教和老师。</a:t>
            </a:r>
          </a:p>
          <a:p>
            <a:r>
              <a:t>和现有工具比,我们的不同之处在于:把“整版板书到可编译文档”这条完整流程做通,支持英文和公式混排,还带错题本归档,这些现有工具都没有。</a:t>
            </a:r>
          </a:p>
          <a:p>
            <a:r>
              <a:t>(交接)接下来请胡秉善同学介绍系统方案。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【胡秉善 · 50 秒】</a:t>
            </a:r>
          </a:p>
          <a:p>
            <a:r>
              <a:t>谢谢郭佳欣。整个流程分五步。</a:t>
            </a:r>
          </a:p>
          <a:p>
            <a:r>
              <a:t>照片进来,先做预处理:缩放到合适大小,再做灰度、光照归一化和二值化,把字迹和背景分清楚;然后做版面分析,把板书按行切开,顺便判断每行是文字还是公式;接着是识别,文字行交给 PaddleOCR,公式行交给 pix2tex;再把结果拼成一份可以编译的 LaTeX;最后在一个桌面程序里校对、导出 PDF,还能存进错题本。</a:t>
            </a:r>
          </a:p>
          <a:p>
            <a:r>
              <a:t>技术栈是 Python、OpenCV、PaddleOCR、pix2tex、PyQt5 和 SQLite。</a:t>
            </a:r>
          </a:p>
          <a:p>
            <a:r>
              <a:t>(衔接)这套流程里有几个关键技术点,我接着讲。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【胡秉善 · 60 秒】</a:t>
            </a:r>
          </a:p>
          <a:p>
            <a:r>
              <a:t>一是光照增强。手机拍的板书经常一半亮一半暗,我们先用 CLAHE 把明暗拉均匀,再用 Otsu 自动找阈值二值化;两步都是 OpenCV 的现成函数,组合起来简单也稳。</a:t>
            </a:r>
          </a:p>
          <a:p>
            <a:r>
              <a:t>二是按行切分。我们数每一行有多少个黑点,空白的地方就是行与行的分界。这个做法简单也稳,第一版只做单列。</a:t>
            </a:r>
          </a:p>
          <a:p>
            <a:r>
              <a:t>三是区分文字和公式。两类内容要用不同引擎,我们先按几何特征粗判,拿不准的让用户在界面上改。</a:t>
            </a:r>
          </a:p>
          <a:p>
            <a:r>
              <a:t>四是拼 LaTeX。像百分号、&amp;、下划线这些字符不转义会编译失败,我们统一做了转义,还用 xelatex 实际编译来验证。</a:t>
            </a:r>
          </a:p>
          <a:p>
            <a:r>
              <a:t>这里也说明一下,为了保证按时交,透视矫正、双列版面、行内切块、反光修复和实时预览这些,第一版先不做,放到以后;拍板书的时候尽量拍正就可以。这是有意缩小范围。</a:t>
            </a:r>
          </a:p>
          <a:p>
            <a:r>
              <a:t>(交接)团队怎么分工、进度怎么排,请陶谱州同学介绍。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【陶谱州 · 45 秒】</a:t>
            </a:r>
          </a:p>
          <a:p>
            <a:r>
              <a:t>谢谢胡秉善。我们的分工是四个人全程一起参与:立项、方案和进度都是大家一起讨论定下来的;开发阶段每人主责一个模块,同时两两结对,交叉参与另一个模块的开发和代码评审,这样每个人对整条流程都有完整的理解。</a:t>
            </a:r>
          </a:p>
          <a:p>
            <a:r>
              <a:t>具体来说,胡秉善主责图像预处理入口、主程序集成和界面框架;郭佳欣主责图像增强和按行切分;我自己主责识别引擎接入和 LaTeX 拼接;李若宸主责界面、导出和错题本。Week 6 接口冻结后,每人用统一的骨架、测试图和验证命令先跑通自己模块的最小示例。所有代码都提交到 GitHub,commit 记录就是我们每个人参与的凭证。</a:t>
            </a:r>
          </a:p>
          <a:p>
            <a:r>
              <a:t>(衔接)接下来的进度安排,我继续讲。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【陶谱州 · 30 秒】</a:t>
            </a:r>
          </a:p>
          <a:p>
            <a:r>
              <a:t>时间上,Week 4 组队,现在 Week 5 做这次期中汇报。接下来 Week 6 到 10 做主体模块,Week 11 到 15 做界面、联调和评估,Week 16 写报告,Week 17 决赛展示。</a:t>
            </a:r>
          </a:p>
          <a:p>
            <a:r>
              <a:t>(交接)最后请李若宸同学介绍预期成果。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【李若宸 · 30 秒】</a:t>
            </a:r>
          </a:p>
          <a:p>
            <a:r>
              <a:t>谢谢陶谱州。最后会交付一个 Windows 桌面程序,走通从照片到 PDF 的完整流程,并且能存错题本。指标上,行切分正确率希望到 90% 以上,端到端可用率到 70% 以上。</a:t>
            </a:r>
          </a:p>
          <a:p>
            <a:r>
              <a:t>识别用的是开源模型,这部分会在报告里注明,其余代码由我们四个人自己完成。</a:t>
            </a:r>
          </a:p>
          <a:p>
            <a:r>
              <a:t>我们的汇报就到这里,谢谢大家。</a:t>
            </a:r>
          </a:p>
          <a:p>
            <a:r>
              <a:t>&gt; [停] 下面是提问环节。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67528" y="14813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9445752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微软雅黑"/>
                <a:ea typeface="微软雅黑"/>
              </a:rPr>
              <a:t>Board2TeX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88920"/>
            <a:ext cx="9445752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600" b="0">
                <a:solidFill>
                  <a:srgbClr val="FFFFFF"/>
                </a:solidFill>
                <a:latin typeface="微软雅黑"/>
                <a:ea typeface="微软雅黑"/>
              </a:rPr>
              <a:t>板书 → LaTeX 一键归档工具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9445752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8FA3C8"/>
                </a:solidFill>
                <a:latin typeface="微软雅黑"/>
                <a:ea typeface="微软雅黑"/>
              </a:rPr>
              <a:t>ICSP (Track A) 期中汇报 · Fall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44575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微软雅黑"/>
                <a:ea typeface="微软雅黑"/>
              </a:rPr>
              <a:t>小组成员:胡秉善(组长)· 郭佳欣 · 陶谱州 · 李若宸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0916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A3C8"/>
                </a:solidFill>
                <a:latin typeface="微软雅黑"/>
                <a:ea typeface="微软雅黑"/>
              </a:rPr>
              <a:t>github.com/hbs07/Board2TeX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035040"/>
            <a:ext cx="944575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8FA3C8"/>
                </a:solidFill>
                <a:latin typeface="微软雅黑"/>
                <a:ea typeface="微软雅黑"/>
              </a:rPr>
              <a:t>四人接力汇报 · 约 5 分钟 · 讲者:郭佳欣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问题与目标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郭佳欣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2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微软雅黑"/>
                <a:ea typeface="微软雅黑"/>
              </a:rPr>
              <a:t>痛点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手机拍板书快,复习时逐条敲进 LaTeX/Word,慢且易错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Mathpix 等按次收费,只支持单条公式截图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整版板书、英文与公式混排,现有工具无法处理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595959"/>
                </a:solidFill>
                <a:latin typeface="微软雅黑"/>
                <a:ea typeface="微软雅黑"/>
              </a:rPr>
              <a:t>我们的目标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60520"/>
            <a:ext cx="5577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免费工具,支持整版板书 + 英文与公式混排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用户:归档板书复习的同学;整理讲义的助教与老师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25880"/>
            <a:ext cx="5166360" cy="4480560"/>
          </a:xfrm>
          <a:prstGeom prst="rect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28600"/>
          <a:lstStyle/>
          <a:p>
            <a:pPr algn="l"/>
            <a:r>
              <a:rPr sz="1800" b="1">
                <a:solidFill>
                  <a:srgbClr val="1F3864"/>
                </a:solidFill>
                <a:latin typeface="微软雅黑"/>
                <a:ea typeface="微软雅黑"/>
              </a:rPr>
              <a:t>我们的不同</a:t>
            </a:r>
          </a:p>
          <a:p>
            <a:pPr algn="l"/>
            <a:r>
              <a:rPr sz="800" b="0">
                <a:solidFill>
                  <a:srgbClr val="1F386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整版板书 → 可编译文档,完整端到端</a:t>
            </a:r>
          </a:p>
          <a:p>
            <a:pPr algn="l"/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支持英文与公式混排</a:t>
            </a:r>
          </a:p>
          <a:p>
            <a:pPr algn="l"/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错题本归档,服务复习闭环</a:t>
            </a:r>
          </a:p>
          <a:p>
            <a:pPr algn="l"/>
            <a:r>
              <a:rPr sz="800" b="0">
                <a:solidFill>
                  <a:srgbClr val="1F3864"/>
                </a:solidFill>
                <a:latin typeface="微软雅黑"/>
                <a:ea typeface="微软雅黑"/>
              </a:rPr>
              <a:t/>
            </a:r>
          </a:p>
          <a:p>
            <a:pPr algn="l"/>
            <a:r>
              <a:rPr sz="1400" b="1">
                <a:solidFill>
                  <a:srgbClr val="E88D2E"/>
                </a:solidFill>
                <a:latin typeface="微软雅黑"/>
                <a:ea typeface="微软雅黑"/>
              </a:rPr>
              <a:t>—— 现有工具均不具备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胡秉善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3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输入:一张板书照片(第一版拍照拍正)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83080"/>
            <a:ext cx="2048256" cy="1600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① 图像预处理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缩放 · 灰度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CLAHE · Otsu · 裁剪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514600" y="2404872"/>
            <a:ext cx="237744" cy="347472"/>
          </a:xfrm>
          <a:prstGeom prst="rightArrow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761488" y="1783080"/>
            <a:ext cx="2048256" cy="1600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② 版面分析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水平投影切行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文字/公式分类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818888" y="2404872"/>
            <a:ext cx="237744" cy="347472"/>
          </a:xfrm>
          <a:prstGeom prst="rightArrow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065776" y="1783080"/>
            <a:ext cx="2048256" cy="1600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③ 识别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文字→PaddleOCR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公式→pix2tex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123176" y="2404872"/>
            <a:ext cx="237744" cy="347472"/>
          </a:xfrm>
          <a:prstGeom prst="rightArrow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70064" y="1783080"/>
            <a:ext cx="2048256" cy="1600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④ LaTeX 合成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特殊字符转义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拼接可编译 .tex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9427464" y="2404872"/>
            <a:ext cx="237744" cy="347472"/>
          </a:xfrm>
          <a:prstGeom prst="rightArrow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674352" y="1783080"/>
            <a:ext cx="2048256" cy="1600200"/>
          </a:xfrm>
          <a:prstGeom prst="round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⑤ 应用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PyQt5 校对编辑</a:t>
            </a:r>
          </a:p>
          <a:p>
            <a:pPr algn="ctr"/>
            <a:r>
              <a:rPr sz="1200" b="0">
                <a:solidFill>
                  <a:srgbClr val="1F3864"/>
                </a:solidFill>
                <a:latin typeface="微软雅黑"/>
                <a:ea typeface="微软雅黑"/>
              </a:rPr>
              <a:t>导出 PDF · 错题本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118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输出:可编译 .tex → PDF,可存入错题本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97680"/>
            <a:ext cx="11091672" cy="1188720"/>
          </a:xfrm>
          <a:prstGeom prst="rect">
            <a:avLst/>
          </a:prstGeom>
          <a:solidFill>
            <a:srgbClr val="F2F6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1F3864"/>
                </a:solidFill>
                <a:latin typeface="微软雅黑"/>
                <a:ea typeface="微软雅黑"/>
              </a:rPr>
              <a:t>技术栈:Python · OpenCV · PaddleOCR · pix2tex(LaTeX-OCR)· PyQt5 · SQLite</a:t>
            </a:r>
          </a:p>
          <a:p>
            <a:pPr algn="ctr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环境已由 check_env.py 验证:15 OK / 0 FAIL,CPU 推理,模型已暖机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关键技术点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胡秉善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4 / 7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5440680" cy="1554480"/>
          </a:xfrm>
          <a:prstGeom prst="rect">
            <a:avLst/>
          </a:prstGeom>
          <a:solidFill>
            <a:srgbClr val="F2F6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/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① 光照增强</a:t>
            </a:r>
          </a:p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CLAHE 拉匀明暗 + Otsu 自动阈值;现成函数组合,简单稳定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6199632" y="1371600"/>
            <a:ext cx="5440680" cy="1554480"/>
          </a:xfrm>
          <a:prstGeom prst="rect">
            <a:avLst/>
          </a:prstGeom>
          <a:solidFill>
            <a:srgbClr val="F2F6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/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② 按行切分</a:t>
            </a:r>
          </a:p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统计每行前景像素,空白处即行分界;第一版只做单列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5440680" cy="1554480"/>
          </a:xfrm>
          <a:prstGeom prst="rect">
            <a:avLst/>
          </a:prstGeom>
          <a:solidFill>
            <a:srgbClr val="F2F6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/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③ 文字 / 公式区分</a:t>
            </a:r>
          </a:p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高宽比 + 连通域几何特征粗判;拿不准在界面人工改判</a:t>
            </a:r>
          </a:p>
        </p:txBody>
      </p:sp>
      <p:sp>
        <p:nvSpPr>
          <p:cNvPr id="9" name="Rectangle 8"/>
          <p:cNvSpPr/>
          <p:nvPr/>
        </p:nvSpPr>
        <p:spPr>
          <a:xfrm>
            <a:off x="6199632" y="3108960"/>
            <a:ext cx="5440680" cy="1554480"/>
          </a:xfrm>
          <a:prstGeom prst="rect">
            <a:avLst/>
          </a:prstGeom>
          <a:solidFill>
            <a:srgbClr val="F2F6FC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28600"/>
          <a:lstStyle/>
          <a:p>
            <a:pPr algn="l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④ 拼接 LaTeX</a:t>
            </a:r>
          </a:p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&amp; % _ # 等特殊字符统一转义;xelatex 实际编译验证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983480"/>
            <a:ext cx="11091672" cy="868680"/>
          </a:xfrm>
          <a:prstGeom prst="rect">
            <a:avLst/>
          </a:prstGeom>
          <a:solidFill>
            <a:srgbClr val="FFF3DE"/>
          </a:solidFill>
          <a:ln w="12700">
            <a:solidFill>
              <a:srgbClr val="E88D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有意缩小范围:透视矫正 · 双列 · 行内切块 · 反光修复 · 实时预览 → 列入后续版本;第一版拍照拍正即可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团队分工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陶谱州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5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98448"/>
            <a:ext cx="10972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E88D2E"/>
                </a:solidFill>
                <a:latin typeface="微软雅黑"/>
                <a:ea typeface="微软雅黑"/>
              </a:rPr>
              <a:t>共同参与 · 模块主责 · 交叉互补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828800"/>
          <a:ext cx="11091672" cy="27249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5148072"/>
                <a:gridCol w="38404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成员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主责模块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核心交付物</a:t>
                      </a:r>
                    </a:p>
                  </a:txBody>
                  <a:tcPr marL="109728" marR="73152" anchor="ctr">
                    <a:solidFill>
                      <a:srgbClr val="1F386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胡秉善(组长)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图像入口 · 主程序集成 · GUI 框架 · PDF 编译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可运行主程序 + 集成管线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郭佳欣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图像增强 · 按行切分 · 行分类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enhance.py + layout/ + 标注图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陶谱州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识别封装 · LaTeX 转义与合成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识别合成模块 + 可编译 .tex</a:t>
                      </a:r>
                    </a:p>
                  </a:txBody>
                  <a:tcPr marL="109728" marR="7315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李若宸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界面 · 导出 · 错题本 · 评估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1F3864"/>
                          </a:solidFill>
                          <a:latin typeface="微软雅黑"/>
                          <a:ea typeface="微软雅黑"/>
                        </a:rPr>
                        <a:t>桌面应用 + 错题本 + 评估报告</a:t>
                      </a:r>
                    </a:p>
                  </a:txBody>
                  <a:tcPr marL="109728" marR="73152" anchor="ctr">
                    <a:solidFill>
                      <a:srgbClr val="F2F6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80060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两两结对,交叉参与另一个模块的开发与代码评审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Week 6 冻结接口后,每人用统一骨架先跑通自己模块的最小示例</a:t>
            </a:r>
          </a:p>
          <a:p>
            <a:pPr>
              <a:spcAft>
                <a:spcPts val="4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代码全部进 GitHub,commit 记录就是每个人的参与凭证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进度安排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陶谱州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6 / 7</a:t>
            </a:r>
          </a:p>
        </p:txBody>
      </p:sp>
      <p:sp>
        <p:nvSpPr>
          <p:cNvPr id="6" name="Chevron 5"/>
          <p:cNvSpPr/>
          <p:nvPr/>
        </p:nvSpPr>
        <p:spPr>
          <a:xfrm>
            <a:off x="457200" y="1737360"/>
            <a:ext cx="1810512" cy="914400"/>
          </a:xfrm>
          <a:prstGeom prst="chevron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W4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组队 · 环境</a:t>
            </a:r>
          </a:p>
        </p:txBody>
      </p:sp>
      <p:sp>
        <p:nvSpPr>
          <p:cNvPr id="7" name="Chevron 6"/>
          <p:cNvSpPr/>
          <p:nvPr/>
        </p:nvSpPr>
        <p:spPr>
          <a:xfrm>
            <a:off x="2066543" y="1737360"/>
            <a:ext cx="1810512" cy="914400"/>
          </a:xfrm>
          <a:prstGeom prst="chevron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W5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期中汇报 · 本周</a:t>
            </a:r>
          </a:p>
        </p:txBody>
      </p:sp>
      <p:sp>
        <p:nvSpPr>
          <p:cNvPr id="8" name="Chevron 7"/>
          <p:cNvSpPr/>
          <p:nvPr/>
        </p:nvSpPr>
        <p:spPr>
          <a:xfrm>
            <a:off x="3675887" y="1737360"/>
            <a:ext cx="1810512" cy="914400"/>
          </a:xfrm>
          <a:prstGeom prst="chevron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W6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微软雅黑"/>
                <a:ea typeface="微软雅黑"/>
              </a:rPr>
              <a:t>冻结接口 · 发骨架</a:t>
            </a:r>
          </a:p>
        </p:txBody>
      </p:sp>
      <p:sp>
        <p:nvSpPr>
          <p:cNvPr id="9" name="Chevron 8"/>
          <p:cNvSpPr/>
          <p:nvPr/>
        </p:nvSpPr>
        <p:spPr>
          <a:xfrm>
            <a:off x="5285232" y="1737360"/>
            <a:ext cx="1810512" cy="914400"/>
          </a:xfrm>
          <a:prstGeom prst="chevron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W7~10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微软雅黑"/>
                <a:ea typeface="微软雅黑"/>
              </a:rPr>
              <a:t>主体模块</a:t>
            </a:r>
          </a:p>
        </p:txBody>
      </p:sp>
      <p:sp>
        <p:nvSpPr>
          <p:cNvPr id="10" name="Chevron 9"/>
          <p:cNvSpPr/>
          <p:nvPr/>
        </p:nvSpPr>
        <p:spPr>
          <a:xfrm>
            <a:off x="6894576" y="1737360"/>
            <a:ext cx="1810512" cy="914400"/>
          </a:xfrm>
          <a:prstGeom prst="chevron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W11~15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微软雅黑"/>
                <a:ea typeface="微软雅黑"/>
              </a:rPr>
              <a:t>界面 · 联调 · 评估</a:t>
            </a:r>
          </a:p>
        </p:txBody>
      </p:sp>
      <p:sp>
        <p:nvSpPr>
          <p:cNvPr id="11" name="Chevron 10"/>
          <p:cNvSpPr/>
          <p:nvPr/>
        </p:nvSpPr>
        <p:spPr>
          <a:xfrm>
            <a:off x="8503920" y="1737360"/>
            <a:ext cx="1810512" cy="914400"/>
          </a:xfrm>
          <a:prstGeom prst="chevron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W16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微软雅黑"/>
                <a:ea typeface="微软雅黑"/>
              </a:rPr>
              <a:t>项目报告</a:t>
            </a:r>
          </a:p>
        </p:txBody>
      </p:sp>
      <p:sp>
        <p:nvSpPr>
          <p:cNvPr id="12" name="Chevron 11"/>
          <p:cNvSpPr/>
          <p:nvPr/>
        </p:nvSpPr>
        <p:spPr>
          <a:xfrm>
            <a:off x="10113264" y="1737360"/>
            <a:ext cx="1810512" cy="914400"/>
          </a:xfrm>
          <a:prstGeom prst="chevron">
            <a:avLst/>
          </a:prstGeom>
          <a:solidFill>
            <a:srgbClr val="EAF1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1F3864"/>
                </a:solidFill>
                <a:latin typeface="微软雅黑"/>
                <a:ea typeface="微软雅黑"/>
              </a:rPr>
              <a:t>W17</a:t>
            </a:r>
          </a:p>
          <a:p>
            <a:pPr algn="ctr"/>
            <a:r>
              <a:rPr sz="1100" b="0">
                <a:solidFill>
                  <a:srgbClr val="1F3864"/>
                </a:solidFill>
                <a:latin typeface="微软雅黑"/>
                <a:ea typeface="微软雅黑"/>
              </a:rPr>
              <a:t>决赛展示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063240"/>
            <a:ext cx="11091672" cy="1051560"/>
          </a:xfrm>
          <a:prstGeom prst="rect">
            <a:avLst/>
          </a:prstGeom>
          <a:solidFill>
            <a:srgbClr val="E8F5E9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2E7D32"/>
                </a:solidFill>
                <a:latin typeface="微软雅黑"/>
                <a:ea typeface="微软雅黑"/>
              </a:rPr>
              <a:t>Week 6 专门冻结接口 + 跑通最小示例,不急着联调,给开发留足 buffer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434840"/>
            <a:ext cx="11064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Week 7~8:图像增强/切行/分类 + 识别封装;Week 9~10:识别合成,与版面联调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Week 11~12:导出、错题本与 GUI 控件;Week 13~14:界面组装,打通完整流程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F3864"/>
                </a:solidFill>
                <a:latin typeface="微软雅黑"/>
                <a:ea typeface="微软雅黑"/>
              </a:rPr>
              <a:t>• Week 15:评估、联调打包与 demo 准备;Week 16:项目报告;Week 17:决赛展示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877824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1F3864"/>
                </a:solidFill>
                <a:latin typeface="微软雅黑"/>
                <a:ea typeface="微软雅黑"/>
              </a:rPr>
              <a:t>预期成果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24128"/>
            <a:ext cx="1463040" cy="45720"/>
          </a:xfrm>
          <a:prstGeom prst="rect">
            <a:avLst/>
          </a:prstGeom>
          <a:solidFill>
            <a:srgbClr val="E88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869680" y="384048"/>
            <a:ext cx="2834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讲者 · 李若宸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0" y="6419088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>
                <a:solidFill>
                  <a:srgbClr val="595959"/>
                </a:solidFill>
                <a:latin typeface="微软雅黑"/>
                <a:ea typeface="微软雅黑"/>
              </a:rPr>
              <a:t>7 /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交付:Windows 桌面程序,照片 → PDF 完整流程,支持错题本归档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F3864"/>
                </a:solidFill>
                <a:latin typeface="微软雅黑"/>
                <a:ea typeface="微软雅黑"/>
              </a:rPr>
              <a:t>• 交付物:GitHub 仓库 · check_env 一键环境验证 · demo 视频 · 项目报告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80360"/>
            <a:ext cx="3566160" cy="1234440"/>
          </a:xfrm>
          <a:prstGeom prst="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行切分正确率 ≥ 90%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自采 20~30 张工整板书,人工核对标注图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4315968" y="2880360"/>
            <a:ext cx="3566160" cy="1234440"/>
          </a:xfrm>
          <a:prstGeom prst="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端到端可用率 ≥ 70%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仅需少量人工修改即可导出正确 .tex</a:t>
            </a:r>
          </a:p>
        </p:txBody>
      </p:sp>
      <p:sp>
        <p:nvSpPr>
          <p:cNvPr id="9" name="Rectangle 8"/>
          <p:cNvSpPr/>
          <p:nvPr/>
        </p:nvSpPr>
        <p:spPr>
          <a:xfrm>
            <a:off x="8083296" y="2880360"/>
            <a:ext cx="3566160" cy="1234440"/>
          </a:xfrm>
          <a:prstGeom prst="rect">
            <a:avLst/>
          </a:prstGeom>
          <a:solidFill>
            <a:srgbClr val="EAF1FB"/>
          </a:solidFill>
          <a:ln w="12700">
            <a:solidFill>
              <a:srgbClr val="1F3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700" b="1">
                <a:solidFill>
                  <a:srgbClr val="1F3864"/>
                </a:solidFill>
                <a:latin typeface="微软雅黑"/>
                <a:ea typeface="微软雅黑"/>
              </a:rPr>
              <a:t>全流程 demo</a:t>
            </a:r>
          </a:p>
          <a:p>
            <a:pPr algn="ctr"/>
            <a:r>
              <a:rPr sz="1200" b="0">
                <a:solidFill>
                  <a:srgbClr val="595959"/>
                </a:solidFill>
                <a:latin typeface="微软雅黑"/>
                <a:ea typeface="微软雅黑"/>
              </a:rPr>
              <a:t>拍照 → 识别 → 校对 → PDF → 错题本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1064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595959"/>
                </a:solidFill>
                <a:latin typeface="微软雅黑"/>
                <a:ea typeface="微软雅黑"/>
              </a:rPr>
              <a:t>AI 使用声明:识别使用开源模型 PaddleOCR / pix2tex(报告中注明);其余代码由四名成员自行编写。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642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  <a:latin typeface="微软雅黑"/>
                <a:ea typeface="微软雅黑"/>
              </a:rPr>
              <a:t>我们的汇报就到这里,谢谢大家!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595959"/>
                </a:solidFill>
                <a:latin typeface="微软雅黑"/>
                <a:ea typeface="微软雅黑"/>
              </a:rPr>
              <a:t>[停] 下面是提问环节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Board2TeX 期中汇报</dc:title>
  <dc:subject/>
  <dc:creator>Board2TeX Team</dc:creator>
  <cp:keywords/>
  <dc:description>ICSP Track A 期中汇报,7 张 Slide,四人接力;备注栏含讲稿。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